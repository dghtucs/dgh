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6000">
                <a:solidFill>
                  <a:srgbClr val="38BDF8"/>
                </a:solidFill>
              </a:defRPr>
            </a:pPr>
            <a:r>
              <a:t>NetConfBench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3200">
                <a:solidFill>
                  <a:srgbClr val="F8FAFC"/>
                </a:solidFill>
              </a:defRPr>
            </a:pPr>
            <a:r>
              <a:t>A Holistic Framework to Evaluate LLM Agents</a:t>
            </a:r>
          </a:p>
          <a:p>
            <a:r>
              <a:t>for Network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  <a:latin typeface="Arial"/>
              </a:defRPr>
            </a:pPr>
            <a:r>
              <a:t>Background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818CF8"/>
                </a:solidFill>
                <a:latin typeface="Arial"/>
              </a:defRPr>
            </a:pPr>
            <a:r>
              <a:t>The Challenge: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• Network configuration ensures stability but relies on human expertise.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• Manual config is error-prone and slow.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818CF8"/>
                </a:solidFill>
                <a:latin typeface="Arial"/>
              </a:defRPr>
            </a:pPr>
            <a:r>
              <a:t>The Opportunity: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• LLMs show promise in semantic understanding.</a:t>
            </a:r>
          </a:p>
          <a:p>
            <a:pPr>
              <a:defRPr sz="2000" b="1">
                <a:solidFill>
                  <a:srgbClr val="38BDF8"/>
                </a:solidFill>
              </a:defRPr>
            </a:pPr>
            <a:r>
              <a:t>• Research Question: Can LLMs function as autonomous agents?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000" b="1">
                <a:solidFill>
                  <a:srgbClr val="38BDF8"/>
                </a:solidFill>
                <a:latin typeface="Arial"/>
              </a:defRPr>
            </a:pPr>
            <a:r>
              <a:t>Limitations of Existing Benchmarks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0000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0000"/>
                          </a:solidFill>
                        </a:defRPr>
                      </a:pPr>
                      <a:r>
                        <a:t>Existing Benchmarks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0000"/>
                          </a:solidFill>
                        </a:defRPr>
                      </a:pPr>
                      <a:r>
                        <a:t>NetConfBench (Ours)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Static / Text-based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6400"/>
                          </a:solidFill>
                        </a:defRPr>
                      </a:pPr>
                      <a:r>
                        <a:t>Dynamic / Emulated (GNS3)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Task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Simple / Synthetic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6400"/>
                          </a:solidFill>
                        </a:defRPr>
                      </a:pPr>
                      <a:r>
                        <a:t>Realistic / Multi-step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Interaction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One-way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6400"/>
                          </a:solidFill>
                        </a:defRPr>
                      </a:pPr>
                      <a:r>
                        <a:t>Closed-loop (Perception-Action)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  <a:latin typeface="Arial"/>
              </a:defRPr>
            </a:pPr>
            <a:r>
              <a:t>NetConfBench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818CF8"/>
                </a:solidFill>
                <a:latin typeface="Arial"/>
              </a:defRPr>
            </a:pPr>
            <a:r>
              <a:t>1. Task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F8FAFC"/>
                </a:solidFill>
                <a:latin typeface="Arial"/>
              </a:defRPr>
            </a:pPr>
            <a:r>
              <a:t>Selection from dataset. Auto-initialization of topology and base configs.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38BDF8"/>
                </a:solidFill>
                <a:latin typeface="Arial"/>
              </a:defRPr>
            </a:pPr>
            <a:r>
              <a:t>2. Task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9260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F8FAFC"/>
                </a:solidFill>
                <a:latin typeface="Arial"/>
              </a:defRPr>
            </a:pPr>
            <a:r>
              <a:t>Agent interacts via APIs: Perception, Decision-making, and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818CF8"/>
                </a:solidFill>
                <a:latin typeface="Arial"/>
              </a:defRPr>
            </a:pPr>
            <a:r>
              <a:t>3. Task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260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F8FAFC"/>
                </a:solidFill>
                <a:latin typeface="Arial"/>
              </a:defRPr>
            </a:pPr>
            <a:r>
              <a:t>Assessment of reasoning traces, config correctness, and validation.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  <a:latin typeface="Arial"/>
              </a:defRPr>
            </a:pPr>
            <a:r>
              <a:t>Benchmark Dataset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F8FAFC"/>
                </a:solidFill>
                <a:latin typeface="Arial"/>
              </a:defRPr>
            </a:pPr>
          </a:p>
          <a:p>
            <a:r>
              <a:t>Dataset Composition: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• 40 Tasks (Diverse Scenarios)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• Routing (OSPF, BGP)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• QoS (Traffic Shaping)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• Security (ACLs)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F8FAFC"/>
                </a:solidFill>
                <a:latin typeface="Arial"/>
              </a:defRPr>
            </a:pPr>
            <a:r>
              <a:t>Pipeline: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1. Data Collection (Community labs)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2. Standardization (Unified JSON)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3. Reasoning Gen (GPT-o3 Ground Truth)</a:t>
            </a:r>
          </a:p>
          <a:p>
            <a:pPr>
              <a:defRPr sz="1800" b="1">
                <a:solidFill>
                  <a:srgbClr val="38BDF8"/>
                </a:solidFill>
              </a:defRPr>
            </a:pPr>
            <a:r>
              <a:t>4. Expert Verification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  <a:latin typeface="Arial"/>
              </a:defRPr>
            </a:pPr>
            <a:r>
              <a:t>Interactive Environment (GNS3)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0">
                <a:solidFill>
                  <a:srgbClr val="F8FAFC"/>
                </a:solidFill>
                <a:latin typeface="Arial"/>
              </a:defRPr>
            </a:pPr>
            <a:r>
              <a:t>Standardized APIs for Agent Interaction: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38BDF8"/>
                </a:solidFill>
                <a:latin typeface="Arial"/>
              </a:defRPr>
            </a:pPr>
            <a:r>
              <a:t>get-topology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F8FAFC"/>
                </a:solidFill>
                <a:latin typeface="Arial"/>
              </a:defRPr>
            </a:pPr>
            <a:r>
              <a:t>Inspect nodes, links, and interface states.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38BDF8"/>
                </a:solidFill>
                <a:latin typeface="Arial"/>
              </a:defRPr>
            </a:pPr>
            <a:r>
              <a:t>get-running-config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43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F8FAFC"/>
                </a:solidFill>
                <a:latin typeface="Arial"/>
              </a:defRPr>
            </a:pPr>
            <a:r>
              <a:t>Read current device configurations.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38BDF8"/>
                </a:solidFill>
                <a:latin typeface="Arial"/>
              </a:defRPr>
            </a:pPr>
            <a:r>
              <a:t>update-config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F8FAFC"/>
                </a:solidFill>
                <a:latin typeface="Arial"/>
              </a:defRPr>
            </a:pPr>
            <a:r>
              <a:t>Apply configuration commands to devices.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38BDF8"/>
                </a:solidFill>
                <a:latin typeface="Arial"/>
              </a:defRPr>
            </a:pPr>
            <a:r>
              <a:t>execute-validation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572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F8FAFC"/>
                </a:solidFill>
                <a:latin typeface="Arial"/>
              </a:defRPr>
            </a:pPr>
            <a:r>
              <a:t>Run verification checks (ping, show commands).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  <a:latin typeface="Arial"/>
              </a:defRPr>
            </a:pPr>
            <a:r>
              <a:t>Multi-dimensional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818CF8"/>
                </a:solidFill>
                <a:latin typeface="Arial"/>
              </a:defRPr>
            </a:pPr>
            <a:r>
              <a:t>Reasoning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F8FAFC"/>
                </a:solidFill>
                <a:latin typeface="Arial"/>
              </a:defRPr>
            </a:pPr>
            <a:r>
              <a:t>Cosine Similarity.</a:t>
            </a:r>
            <a:br/>
            <a:r>
              <a:t>Compares Agent thought process vs Ground Truth.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818CF8"/>
                </a:solidFill>
                <a:latin typeface="Arial"/>
              </a:defRPr>
            </a:pPr>
            <a:r>
              <a:t>Command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9260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F8FAFC"/>
                </a:solidFill>
                <a:latin typeface="Arial"/>
              </a:defRPr>
            </a:pPr>
            <a:r>
              <a:t>Precision &amp; Recall.</a:t>
            </a:r>
            <a:br/>
            <a:r>
              <a:t>Checks if config lines match solution 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38BDF8"/>
                </a:solidFill>
                <a:latin typeface="Arial"/>
              </a:defRPr>
            </a:pPr>
            <a:r>
              <a:t>Testcase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9260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F8FAFC"/>
                </a:solidFill>
                <a:latin typeface="Arial"/>
              </a:defRPr>
            </a:pPr>
            <a:r>
              <a:t>Functional Pass Rate.</a:t>
            </a:r>
            <a:br/>
            <a:r>
              <a:t>Executes validation scripts. The most critical metric.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  <a:latin typeface="Arial"/>
              </a:defRPr>
            </a:pPr>
            <a:r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F8FAFC"/>
                </a:solidFill>
                <a:latin typeface="Arial"/>
              </a:defRPr>
            </a:pPr>
          </a:p>
          <a:p>
            <a:pPr>
              <a:defRPr b="1" sz="2400">
                <a:solidFill>
                  <a:srgbClr val="38BDF8"/>
                </a:solidFill>
              </a:defRPr>
            </a:pPr>
            <a:r>
              <a:t>Tested Models (6 Representative LLMs):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• Reasoning Models: GPT-o3, DeepSeek-r1, QwQ-plus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• Non-Reasoning Models: GPT-4o, DeepSeek-v3, Qwen-max</a:t>
            </a:r>
          </a:p>
          <a:p/>
          <a:p>
            <a:pPr>
              <a:defRPr b="1" sz="2400">
                <a:solidFill>
                  <a:srgbClr val="38BDF8"/>
                </a:solidFill>
              </a:defRPr>
            </a:pPr>
            <a:r>
              <a:t>Interaction Modes: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1. One-shot Prediction (All models)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2. Multi-turn Interaction (ReAct for non-reasoning)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  <a:latin typeface="Arial"/>
              </a:defRPr>
            </a:pPr>
            <a:r>
              <a:t>RQ1: Reasoning Capability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0">
                <a:solidFill>
                  <a:srgbClr val="F8FAFC"/>
                </a:solidFill>
                <a:latin typeface="Arial"/>
              </a:defRPr>
            </a:pPr>
            <a:r>
              <a:t>Conclusion: Advanced reasoning capability is the primary differentiator.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2400" b="1">
                <a:solidFill>
                  <a:srgbClr val="38BDF8"/>
                </a:solidFill>
              </a:defRPr>
            </a:pPr>
            <a:r>
              <a:t>GPT-o3: 90.2%</a:t>
            </a:r>
          </a:p>
          <a:p>
            <a:pPr>
              <a:defRPr sz="2400" b="1">
                <a:solidFill>
                  <a:srgbClr val="38BDF8"/>
                </a:solidFill>
              </a:defRPr>
            </a:pPr>
            <a:r>
              <a:t>DeepSeek-r1: 82.4%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GPT-4o: 71.4%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Qwen-max: 58.0%</a:t>
            </a:r>
          </a:p>
          <a:p>
            <a:pPr>
              <a:defRPr sz="2400" b="1">
                <a:solidFill>
                  <a:srgbClr val="EF4444"/>
                </a:solidFill>
              </a:defRPr>
            </a:pPr>
            <a:r>
              <a:t>QwQ-plus: 48.7%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94A3B8"/>
                </a:solidFill>
                <a:latin typeface="Arial"/>
              </a:defRPr>
            </a:pPr>
            <a:r>
              <a:t>* Metric: Average Testcase Pass Rate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  <a:latin typeface="Arial"/>
              </a:defRPr>
            </a:pPr>
            <a:r>
              <a:t>RQ2: Impact of Task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F8FAFC"/>
                </a:solidFill>
                <a:latin typeface="Arial"/>
              </a:defRPr>
            </a:pPr>
          </a:p>
          <a:p>
            <a:pPr>
              <a:defRPr b="1" sz="2400">
                <a:solidFill>
                  <a:srgbClr val="38BDF8"/>
                </a:solidFill>
              </a:defRPr>
            </a:pPr>
            <a:r>
              <a:t>Global Planning Deficit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Models perform well on isolated subtasks but struggle when integrated into complex tasks.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F8FAFC"/>
                </a:solidFill>
                <a:latin typeface="Arial"/>
              </a:defRPr>
            </a:pPr>
          </a:p>
          <a:p>
            <a:pPr>
              <a:defRPr b="1" sz="2000">
                <a:solidFill>
                  <a:srgbClr val="F8FAFC"/>
                </a:solidFill>
              </a:defRPr>
            </a:pPr>
            <a:r>
              <a:t>Pass Rate Comparison:</a:t>
            </a:r>
          </a:p>
          <a:p>
            <a:pPr>
              <a:defRPr b="1" sz="3600">
                <a:solidFill>
                  <a:srgbClr val="34D399"/>
                </a:solidFill>
              </a:defRPr>
            </a:pPr>
            <a:r>
              <a:t>Subtasks: ~85%</a:t>
            </a:r>
          </a:p>
          <a:p>
            <a:pPr>
              <a:defRPr b="1" sz="3600">
                <a:solidFill>
                  <a:srgbClr val="FBBF24"/>
                </a:solidFill>
              </a:defRPr>
            </a:pPr>
            <a:r>
              <a:t>Full Task: ~40%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  <a:latin typeface="Arial"/>
              </a:defRPr>
            </a:pPr>
            <a:r>
              <a:t>RQ3: Effect of Multi-turn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F8FAFC"/>
                </a:solidFill>
                <a:latin typeface="Arial"/>
              </a:defRPr>
            </a:pPr>
          </a:p>
          <a:p>
            <a:pPr>
              <a:defRPr b="1" sz="2400">
                <a:solidFill>
                  <a:srgbClr val="34D399"/>
                </a:solidFill>
              </a:defRPr>
            </a:pPr>
            <a:r>
              <a:t>Strengths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• Corrects Syntax Errors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• Adjusts Interface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F8FAFC"/>
                </a:solidFill>
                <a:latin typeface="Arial"/>
              </a:defRPr>
            </a:pPr>
          </a:p>
          <a:p>
            <a:pPr>
              <a:defRPr b="1" sz="2400">
                <a:solidFill>
                  <a:srgbClr val="FBBF24"/>
                </a:solidFill>
              </a:defRPr>
            </a:pPr>
            <a:r>
              <a:t>Weaknesses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• Cannot solve high-level planning issues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• Self-Verification Failure (Hallucinating success)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  <a:latin typeface="Arial"/>
              </a:defRPr>
            </a:pPr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F8FAFC"/>
                </a:solidFill>
                <a:latin typeface="Arial"/>
              </a:defRPr>
            </a:pPr>
          </a:p>
          <a:p>
            <a:pPr>
              <a:defRPr b="1" sz="2400">
                <a:solidFill>
                  <a:srgbClr val="38BDF8"/>
                </a:solidFill>
              </a:defRPr>
            </a:pPr>
            <a:r>
              <a:t>Summary: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NetConfBench is the first holistic framework. While Reasoning models show promise, robustness in production is still lacking.</a:t>
            </a:r>
          </a:p>
          <a:p/>
          <a:p>
            <a:pPr>
              <a:defRPr b="1" sz="2400">
                <a:solidFill>
                  <a:srgbClr val="818CF8"/>
                </a:solidFill>
              </a:defRPr>
            </a:pPr>
            <a:r>
              <a:t>Future Directions: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• Reinforcement Learning (RL) training ground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• Fault Diagnosis and Troubleshooting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