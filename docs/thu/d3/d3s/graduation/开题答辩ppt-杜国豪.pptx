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02" r:id="rId5"/>
    <p:sldId id="290" r:id="rId6"/>
    <p:sldId id="296" r:id="rId7"/>
    <p:sldId id="297" r:id="rId8"/>
    <p:sldId id="303" r:id="rId9"/>
    <p:sldId id="291" r:id="rId10"/>
    <p:sldId id="300" r:id="rId11"/>
    <p:sldId id="304" r:id="rId12"/>
    <p:sldId id="265" r:id="rId13"/>
    <p:sldId id="294" r:id="rId14"/>
    <p:sldId id="30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EDE4F4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34" autoAdjust="0"/>
    <p:restoredTop sz="82533" autoAdjust="0"/>
  </p:normalViewPr>
  <p:slideViewPr>
    <p:cSldViewPr snapToGrid="0">
      <p:cViewPr varScale="1">
        <p:scale>
          <a:sx n="106" d="100"/>
          <a:sy n="106" d="100"/>
        </p:scale>
        <p:origin x="236" y="5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9B24D-97BA-4222-912C-595D68994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18717E-F74C-4246-A795-6577BEDC838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我的工作将从研究背景、相关工作、研究思路和未来规划等方面展开。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要点 </a:t>
            </a:r>
            <a:r>
              <a:rPr lang="en-US" altLang="zh-CN" b="1" dirty="0"/>
              <a:t>1</a:t>
            </a:r>
            <a:r>
              <a:rPr lang="zh-CN" altLang="en-US" b="1" dirty="0"/>
              <a:t>｜网络配置天然复杂且高风险</a:t>
            </a:r>
            <a:endParaRPr lang="zh-CN" altLang="en-US" dirty="0"/>
          </a:p>
          <a:p>
            <a:r>
              <a:rPr lang="zh-CN" altLang="en-US" dirty="0"/>
              <a:t>多设备</a:t>
            </a:r>
            <a:r>
              <a:rPr lang="en-US" altLang="zh-CN" dirty="0"/>
              <a:t>/</a:t>
            </a:r>
            <a:r>
              <a:rPr lang="zh-CN" altLang="en-US" dirty="0"/>
              <a:t>多协议联动（如 </a:t>
            </a:r>
            <a:r>
              <a:rPr lang="en-US" altLang="zh-CN" dirty="0"/>
              <a:t>BGP/OSPF/ACL/NAT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依赖顺序强、状态不可见性强（配对了不等于生效）</a:t>
            </a:r>
            <a:endParaRPr lang="zh-CN" altLang="en-US" dirty="0"/>
          </a:p>
          <a:p>
            <a:r>
              <a:rPr lang="zh-CN" altLang="en-US" dirty="0"/>
              <a:t>一次错误配置可能导致业务中断，验证成本高</a:t>
            </a:r>
            <a:endParaRPr lang="zh-CN" altLang="en-US" dirty="0"/>
          </a:p>
          <a:p>
            <a:r>
              <a:rPr lang="zh-CN" altLang="en-US" b="1" dirty="0"/>
              <a:t>要点 </a:t>
            </a:r>
            <a:r>
              <a:rPr lang="en-US" altLang="zh-CN" b="1" dirty="0"/>
              <a:t>2</a:t>
            </a:r>
            <a:r>
              <a:rPr lang="zh-CN" altLang="en-US" b="1" dirty="0"/>
              <a:t>｜</a:t>
            </a:r>
            <a:r>
              <a:rPr lang="en-US" altLang="zh-CN" b="1" dirty="0"/>
              <a:t>LLM/Agent </a:t>
            </a:r>
            <a:r>
              <a:rPr lang="zh-CN" altLang="en-US" b="1" dirty="0"/>
              <a:t>有潜力降低门槛</a:t>
            </a:r>
            <a:endParaRPr lang="zh-CN" altLang="en-US" dirty="0"/>
          </a:p>
          <a:p>
            <a:r>
              <a:rPr lang="zh-CN" altLang="en-US" dirty="0"/>
              <a:t>能把“自然语言意图”转成配置操作</a:t>
            </a:r>
            <a:endParaRPr lang="zh-CN" altLang="en-US" dirty="0"/>
          </a:p>
          <a:p>
            <a:r>
              <a:rPr lang="zh-CN" altLang="en-US" dirty="0"/>
              <a:t>能利用交互反馈（</a:t>
            </a:r>
            <a:r>
              <a:rPr lang="en-US" altLang="zh-CN" dirty="0"/>
              <a:t>show / ping / traceroute</a:t>
            </a:r>
            <a:r>
              <a:rPr lang="zh-CN" altLang="en-US" dirty="0"/>
              <a:t>）进行迭代纠错</a:t>
            </a:r>
            <a:endParaRPr lang="zh-CN" altLang="en-US" dirty="0"/>
          </a:p>
          <a:p>
            <a:r>
              <a:rPr lang="zh-CN" altLang="en-US" dirty="0"/>
              <a:t>有望提升自动化效率与可解释性</a:t>
            </a:r>
            <a:endParaRPr lang="zh-CN" altLang="en-US" dirty="0"/>
          </a:p>
          <a:p>
            <a:r>
              <a:rPr lang="zh-CN" altLang="en-US" b="1" dirty="0"/>
              <a:t>要点 </a:t>
            </a:r>
            <a:r>
              <a:rPr lang="en-US" altLang="zh-CN" b="1" dirty="0"/>
              <a:t>3</a:t>
            </a:r>
            <a:r>
              <a:rPr lang="zh-CN" altLang="en-US" b="1" dirty="0"/>
              <a:t>｜但现有评测普遍停留在“文本正确”</a:t>
            </a:r>
            <a:endParaRPr lang="zh-CN" altLang="en-US" dirty="0"/>
          </a:p>
          <a:p>
            <a:r>
              <a:rPr lang="zh-CN" altLang="en-US" dirty="0"/>
              <a:t>常用 </a:t>
            </a:r>
            <a:r>
              <a:rPr lang="en-US" altLang="zh-CN" dirty="0"/>
              <a:t>NLP </a:t>
            </a:r>
            <a:r>
              <a:rPr lang="zh-CN" altLang="en-US" dirty="0"/>
              <a:t>指标</a:t>
            </a:r>
            <a:r>
              <a:rPr lang="en-US" altLang="zh-CN" dirty="0"/>
              <a:t>/</a:t>
            </a:r>
            <a:r>
              <a:rPr lang="zh-CN" altLang="en-US" dirty="0"/>
              <a:t>人工主观打分，难反映“配置是否真的生效”</a:t>
            </a:r>
            <a:endParaRPr lang="zh-CN" altLang="en-US" dirty="0"/>
          </a:p>
          <a:p>
            <a:r>
              <a:rPr lang="zh-CN" altLang="en-US" dirty="0"/>
              <a:t>缺少交互式闭环评测：生成 → 下发 → 反馈 → 修复 → 验证</a:t>
            </a:r>
            <a:endParaRPr lang="zh-CN" altLang="en-US" dirty="0"/>
          </a:p>
          <a:p>
            <a:r>
              <a:rPr lang="zh-CN" altLang="en-US" dirty="0"/>
              <a:t>缺少对</a:t>
            </a:r>
            <a:r>
              <a:rPr lang="zh-CN" altLang="en-US" b="1" dirty="0"/>
              <a:t>推理过程</a:t>
            </a:r>
            <a:r>
              <a:rPr lang="en-US" altLang="zh-CN" b="1" dirty="0"/>
              <a:t>/</a:t>
            </a:r>
            <a:r>
              <a:rPr lang="zh-CN" altLang="en-US" b="1" dirty="0"/>
              <a:t>中间步骤有效性</a:t>
            </a:r>
            <a:r>
              <a:rPr lang="zh-CN" altLang="en-US" dirty="0"/>
              <a:t>的度量与诊断</a:t>
            </a:r>
            <a:endParaRPr lang="zh-CN" altLang="en-US" dirty="0"/>
          </a:p>
          <a:p>
            <a:r>
              <a:rPr lang="zh-CN" altLang="en-US" b="1" dirty="0"/>
              <a:t>要点 </a:t>
            </a:r>
            <a:r>
              <a:rPr lang="en-US" altLang="zh-CN" b="1" dirty="0"/>
              <a:t>4</a:t>
            </a:r>
            <a:r>
              <a:rPr lang="zh-CN" altLang="en-US" b="1" dirty="0"/>
              <a:t>｜因此需要一个“任务</a:t>
            </a:r>
            <a:r>
              <a:rPr lang="en-US" altLang="zh-CN" b="1" dirty="0"/>
              <a:t>+</a:t>
            </a:r>
            <a:r>
              <a:rPr lang="zh-CN" altLang="en-US" b="1" dirty="0"/>
              <a:t>环境</a:t>
            </a:r>
            <a:r>
              <a:rPr lang="en-US" altLang="zh-CN" b="1" dirty="0"/>
              <a:t>+</a:t>
            </a:r>
            <a:r>
              <a:rPr lang="zh-CN" altLang="en-US" b="1" dirty="0"/>
              <a:t>指标”一体化基准</a:t>
            </a:r>
            <a:endParaRPr lang="zh-CN" altLang="en-US" dirty="0"/>
          </a:p>
          <a:p>
            <a:r>
              <a:rPr lang="zh-CN" altLang="en-US" dirty="0"/>
              <a:t>构建可复现的网络配置任务集</a:t>
            </a:r>
            <a:endParaRPr lang="zh-CN" altLang="en-US" dirty="0"/>
          </a:p>
          <a:p>
            <a:r>
              <a:rPr lang="zh-CN" altLang="en-US" dirty="0"/>
              <a:t>提供仿真</a:t>
            </a:r>
            <a:r>
              <a:rPr lang="en-US" altLang="zh-CN" dirty="0"/>
              <a:t>/</a:t>
            </a:r>
            <a:r>
              <a:rPr lang="zh-CN" altLang="en-US" dirty="0"/>
              <a:t>验证环境与自动化 </a:t>
            </a:r>
            <a:r>
              <a:rPr lang="en-US" altLang="zh-CN" dirty="0"/>
              <a:t>testcase</a:t>
            </a:r>
            <a:endParaRPr lang="en-US" altLang="zh-CN" dirty="0"/>
          </a:p>
          <a:p>
            <a:r>
              <a:rPr lang="zh-CN" altLang="en-US" dirty="0"/>
              <a:t>用多维指标衡量：命令有效率、意图满足率、推理</a:t>
            </a:r>
            <a:r>
              <a:rPr lang="en-US" altLang="zh-CN" dirty="0"/>
              <a:t>/</a:t>
            </a:r>
            <a:r>
              <a:rPr lang="zh-CN" altLang="en-US" dirty="0"/>
              <a:t>纠错质量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划分清楚</a:t>
            </a:r>
            <a:endParaRPr lang="zh-CN" altLang="en-US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这一层关注最终的交付质量，包含两个核心指标：</a:t>
            </a:r>
            <a:endParaRPr lang="zh-CN" altLang="en-US" dirty="0"/>
          </a:p>
          <a:p>
            <a:r>
              <a:rPr lang="en-US" altLang="zh-CN" dirty="0"/>
              <a:t>1.  **F1_score</a:t>
            </a:r>
            <a:r>
              <a:rPr lang="zh-CN" altLang="en-US" dirty="0"/>
              <a:t>（配置准确度）：</a:t>
            </a:r>
            <a:r>
              <a:rPr lang="en-US" altLang="zh-CN" dirty="0"/>
              <a:t>** </a:t>
            </a:r>
            <a:r>
              <a:rPr lang="zh-CN" altLang="en-US" dirty="0"/>
              <a:t>通过对比模型生成的</a:t>
            </a:r>
            <a:r>
              <a:rPr lang="en-US" altLang="zh-CN" dirty="0"/>
              <a:t>“</a:t>
            </a:r>
            <a:r>
              <a:rPr lang="zh-CN" altLang="en-US" dirty="0"/>
              <a:t>生效配置</a:t>
            </a:r>
            <a:r>
              <a:rPr lang="en-US" altLang="zh-CN" dirty="0"/>
              <a:t>”</a:t>
            </a:r>
            <a:r>
              <a:rPr lang="zh-CN" altLang="en-US" dirty="0"/>
              <a:t>与专家提供的</a:t>
            </a:r>
            <a:r>
              <a:rPr lang="en-US" altLang="zh-CN" dirty="0"/>
              <a:t>“</a:t>
            </a:r>
            <a:r>
              <a:rPr lang="zh-CN" altLang="en-US" dirty="0"/>
              <a:t>参考配置</a:t>
            </a:r>
            <a:r>
              <a:rPr lang="en-US" altLang="zh-CN" dirty="0"/>
              <a:t>”</a:t>
            </a:r>
            <a:r>
              <a:rPr lang="zh-CN" altLang="en-US" dirty="0"/>
              <a:t>，计算配置行的精确率与召回率。</a:t>
            </a:r>
            <a:endParaRPr lang="zh-CN" altLang="en-US" dirty="0"/>
          </a:p>
          <a:p>
            <a:r>
              <a:rPr lang="en-US" altLang="zh-CN" dirty="0"/>
              <a:t>2.  **</a:t>
            </a:r>
            <a:r>
              <a:rPr lang="zh-CN" altLang="en-US" dirty="0"/>
              <a:t>意图满足率（</a:t>
            </a:r>
            <a:r>
              <a:rPr lang="en-US" altLang="zh-CN" dirty="0"/>
              <a:t>Intent Satisfaction</a:t>
            </a:r>
            <a:r>
              <a:rPr lang="zh-CN" altLang="en-US" dirty="0"/>
              <a:t>）：</a:t>
            </a:r>
            <a:r>
              <a:rPr lang="en-US" altLang="zh-CN" dirty="0"/>
              <a:t>** </a:t>
            </a:r>
            <a:r>
              <a:rPr lang="zh-CN" altLang="en-US" dirty="0"/>
              <a:t>不只看代码行，更看效果。我设计了自动化的验证脚本来测试业务意图：</a:t>
            </a:r>
            <a:endParaRPr lang="zh-CN" altLang="en-US" dirty="0"/>
          </a:p>
          <a:p>
            <a:r>
              <a:rPr lang="en-US" altLang="zh-CN" dirty="0"/>
              <a:t>    *   **Ping </a:t>
            </a:r>
            <a:r>
              <a:rPr lang="zh-CN" altLang="en-US" dirty="0"/>
              <a:t>测试（连通性验证）：</a:t>
            </a:r>
            <a:r>
              <a:rPr lang="en-US" altLang="zh-CN" dirty="0"/>
              <a:t>** </a:t>
            </a:r>
            <a:r>
              <a:rPr lang="zh-CN" altLang="en-US" dirty="0"/>
              <a:t>模拟</a:t>
            </a:r>
            <a:r>
              <a:rPr lang="en-US" altLang="zh-CN" dirty="0"/>
              <a:t> PC </a:t>
            </a:r>
            <a:r>
              <a:rPr lang="zh-CN" altLang="en-US" dirty="0"/>
              <a:t>发送</a:t>
            </a:r>
            <a:r>
              <a:rPr lang="en-US" altLang="zh-CN" dirty="0"/>
              <a:t> ICMP </a:t>
            </a:r>
            <a:r>
              <a:rPr lang="zh-CN" altLang="en-US" dirty="0"/>
              <a:t>请求，验证全网或特定路径是否已打通。</a:t>
            </a:r>
            <a:endParaRPr lang="zh-CN" altLang="en-US" dirty="0"/>
          </a:p>
          <a:p>
            <a:r>
              <a:rPr lang="en-US" altLang="zh-CN" dirty="0"/>
              <a:t>    *   **ACL </a:t>
            </a:r>
            <a:r>
              <a:rPr lang="zh-CN" altLang="en-US" dirty="0"/>
              <a:t>穿透测试（策略验证）：</a:t>
            </a:r>
            <a:r>
              <a:rPr lang="en-US" altLang="zh-CN" dirty="0"/>
              <a:t>** </a:t>
            </a:r>
            <a:r>
              <a:rPr lang="zh-CN" altLang="en-US" dirty="0"/>
              <a:t>模拟</a:t>
            </a:r>
            <a:r>
              <a:rPr lang="en-US" altLang="zh-CN" dirty="0"/>
              <a:t>“</a:t>
            </a:r>
            <a:r>
              <a:rPr lang="zh-CN" altLang="en-US" dirty="0"/>
              <a:t>被禁止</a:t>
            </a:r>
            <a:r>
              <a:rPr lang="en-US" altLang="zh-CN" dirty="0"/>
              <a:t>”</a:t>
            </a:r>
            <a:r>
              <a:rPr lang="zh-CN" altLang="en-US" dirty="0"/>
              <a:t>的流量（如</a:t>
            </a:r>
            <a:r>
              <a:rPr lang="en-US" altLang="zh-CN" dirty="0"/>
              <a:t> HTTP </a:t>
            </a:r>
            <a:r>
              <a:rPr lang="zh-CN" altLang="en-US" dirty="0"/>
              <a:t>请求），验证防火墙策略是否按预期拦截了非法包，同时放行了合法包。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这是本研究的创新所在。为了打开</a:t>
            </a:r>
            <a:r>
              <a:rPr lang="en-US" altLang="zh-CN" dirty="0"/>
              <a:t> Agent </a:t>
            </a:r>
            <a:r>
              <a:rPr lang="zh-CN" altLang="en-US" dirty="0"/>
              <a:t>的黑盒，我构建了具体的算法来量化四大核心能力：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1.  **</a:t>
            </a:r>
            <a:r>
              <a:rPr lang="zh-CN" altLang="en-US" dirty="0"/>
              <a:t>理解能力</a:t>
            </a:r>
            <a:r>
              <a:rPr lang="en-US" altLang="zh-CN" dirty="0"/>
              <a:t> (Understanding)</a:t>
            </a:r>
            <a:r>
              <a:rPr lang="zh-CN" altLang="en-US" dirty="0"/>
              <a:t>：语法准确性</a:t>
            </a:r>
            <a:r>
              <a:rPr lang="en-US" altLang="zh-CN" dirty="0"/>
              <a:t>**</a:t>
            </a:r>
            <a:endParaRPr lang="en-US" altLang="zh-CN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核心定义：</a:t>
            </a:r>
            <a:r>
              <a:rPr lang="en-US" altLang="zh-CN" dirty="0"/>
              <a:t>** </a:t>
            </a:r>
            <a:r>
              <a:rPr lang="zh-CN" altLang="en-US" dirty="0"/>
              <a:t>衡量智能体对网工领域指令集的掌握程度。</a:t>
            </a:r>
            <a:endParaRPr lang="zh-CN" altLang="en-US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计算公式：</a:t>
            </a:r>
            <a:r>
              <a:rPr lang="en-US" altLang="zh-CN" dirty="0"/>
              <a:t>** $$ S_{und} = 1 - \frac{N_{invalid}}{N_{total}} $$</a:t>
            </a:r>
            <a:endParaRPr lang="en-US" altLang="zh-CN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解读：</a:t>
            </a:r>
            <a:r>
              <a:rPr lang="en-US" altLang="zh-CN" dirty="0"/>
              <a:t>** 1</a:t>
            </a:r>
            <a:r>
              <a:rPr lang="zh-CN" altLang="en-US" dirty="0"/>
              <a:t>减去幻觉指令（如</a:t>
            </a:r>
            <a:r>
              <a:rPr lang="en-US" altLang="zh-CN" dirty="0"/>
              <a:t> `show ip route` </a:t>
            </a:r>
            <a:r>
              <a:rPr lang="zh-CN" altLang="en-US" dirty="0"/>
              <a:t>敲成</a:t>
            </a:r>
            <a:r>
              <a:rPr lang="en-US" altLang="zh-CN" dirty="0"/>
              <a:t> `display ip route`</a:t>
            </a:r>
            <a:r>
              <a:rPr lang="zh-CN" altLang="en-US" dirty="0"/>
              <a:t>）的占比。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2.  **</a:t>
            </a:r>
            <a:r>
              <a:rPr lang="zh-CN" altLang="en-US" dirty="0"/>
              <a:t>推理能力</a:t>
            </a:r>
            <a:r>
              <a:rPr lang="en-US" altLang="zh-CN" dirty="0"/>
              <a:t> (Reasoning)</a:t>
            </a:r>
            <a:r>
              <a:rPr lang="zh-CN" altLang="en-US" dirty="0"/>
              <a:t>：状态判断力</a:t>
            </a:r>
            <a:r>
              <a:rPr lang="en-US" altLang="zh-CN" dirty="0"/>
              <a:t>**</a:t>
            </a:r>
            <a:endParaRPr lang="en-US" altLang="zh-CN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核心定义：</a:t>
            </a:r>
            <a:r>
              <a:rPr lang="en-US" altLang="zh-CN" dirty="0"/>
              <a:t>** </a:t>
            </a:r>
            <a:r>
              <a:rPr lang="zh-CN" altLang="en-US" dirty="0"/>
              <a:t>衡量智能体对自己任务进度的判断是否准确（避免盲目自信）。</a:t>
            </a:r>
            <a:endParaRPr lang="zh-CN" altLang="en-US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计算公式：</a:t>
            </a:r>
            <a:r>
              <a:rPr lang="en-US" altLang="zh-CN" dirty="0"/>
              <a:t>** $$ S_{reas} = 1 - \frac{N_{false\_submit}}{N_{submit}} $$</a:t>
            </a:r>
            <a:endParaRPr lang="en-US" altLang="zh-CN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解读：</a:t>
            </a:r>
            <a:r>
              <a:rPr lang="en-US" altLang="zh-CN" dirty="0"/>
              <a:t>** </a:t>
            </a:r>
            <a:r>
              <a:rPr lang="zh-CN" altLang="en-US" dirty="0"/>
              <a:t>惩罚那些</a:t>
            </a:r>
            <a:r>
              <a:rPr lang="en-US" altLang="zh-CN" dirty="0"/>
              <a:t>“</a:t>
            </a:r>
            <a:r>
              <a:rPr lang="zh-CN" altLang="en-US" dirty="0"/>
              <a:t>根本没通就喊我做好了</a:t>
            </a:r>
            <a:r>
              <a:rPr lang="en-US" altLang="zh-CN" dirty="0"/>
              <a:t>”</a:t>
            </a:r>
            <a:r>
              <a:rPr lang="zh-CN" altLang="en-US" dirty="0"/>
              <a:t>的行为。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3.  **</a:t>
            </a:r>
            <a:r>
              <a:rPr lang="zh-CN" altLang="en-US" dirty="0"/>
              <a:t>探索能力</a:t>
            </a:r>
            <a:r>
              <a:rPr lang="en-US" altLang="zh-CN" dirty="0"/>
              <a:t> (Exploration)</a:t>
            </a:r>
            <a:r>
              <a:rPr lang="zh-CN" altLang="en-US" dirty="0"/>
              <a:t>：语法试错与修正</a:t>
            </a:r>
            <a:r>
              <a:rPr lang="en-US" altLang="zh-CN" dirty="0"/>
              <a:t>**</a:t>
            </a:r>
            <a:endParaRPr lang="en-US" altLang="zh-CN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核心定义：</a:t>
            </a:r>
            <a:r>
              <a:rPr lang="en-US" altLang="zh-CN" dirty="0"/>
              <a:t>** **</a:t>
            </a:r>
            <a:r>
              <a:rPr lang="zh-CN" altLang="en-US" dirty="0"/>
              <a:t>（基于语法维度）</a:t>
            </a:r>
            <a:r>
              <a:rPr lang="en-US" altLang="zh-CN" dirty="0"/>
              <a:t>** </a:t>
            </a:r>
            <a:r>
              <a:rPr lang="zh-CN" altLang="en-US" dirty="0"/>
              <a:t>当某条命令报错（</a:t>
            </a:r>
            <a:r>
              <a:rPr lang="en-US" altLang="zh-CN" dirty="0"/>
              <a:t>% Invalid</a:t>
            </a:r>
            <a:r>
              <a:rPr lang="zh-CN" altLang="en-US" dirty="0"/>
              <a:t>）时，</a:t>
            </a:r>
            <a:r>
              <a:rPr lang="en-US" altLang="zh-CN" dirty="0"/>
              <a:t>Agent </a:t>
            </a:r>
            <a:r>
              <a:rPr lang="zh-CN" altLang="en-US" dirty="0"/>
              <a:t>能否尝试更换另一条合法命令？</a:t>
            </a:r>
            <a:endParaRPr lang="zh-CN" altLang="en-US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计算公式：</a:t>
            </a:r>
            <a:r>
              <a:rPr lang="en-US" altLang="zh-CN" dirty="0"/>
              <a:t>** $$ S_{expl} = \frac{N_{syntax\_resolved}}{N_{syntax\_error}} $$</a:t>
            </a:r>
            <a:endParaRPr lang="en-US" altLang="zh-CN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解读：</a:t>
            </a:r>
            <a:r>
              <a:rPr lang="en-US" altLang="zh-CN" dirty="0"/>
              <a:t>** </a:t>
            </a:r>
            <a:r>
              <a:rPr lang="zh-CN" altLang="en-US" dirty="0"/>
              <a:t>分母是触发语法报错的次数，分子是紧接着下一步成功输入了合法命令的次数。反映了模型在</a:t>
            </a:r>
            <a:r>
              <a:rPr lang="en-US" altLang="zh-CN" dirty="0"/>
              <a:t>**</a:t>
            </a:r>
            <a:r>
              <a:rPr lang="zh-CN" altLang="en-US" dirty="0"/>
              <a:t>形式层面</a:t>
            </a:r>
            <a:r>
              <a:rPr lang="en-US" altLang="zh-CN" dirty="0"/>
              <a:t>**</a:t>
            </a:r>
            <a:r>
              <a:rPr lang="zh-CN" altLang="en-US" dirty="0"/>
              <a:t>的灵活性。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4.  **</a:t>
            </a:r>
            <a:r>
              <a:rPr lang="zh-CN" altLang="en-US" dirty="0"/>
              <a:t>反思能力</a:t>
            </a:r>
            <a:r>
              <a:rPr lang="en-US" altLang="zh-CN" dirty="0"/>
              <a:t> (Reflection)</a:t>
            </a:r>
            <a:r>
              <a:rPr lang="zh-CN" altLang="en-US" dirty="0"/>
              <a:t>：语义验证与修正</a:t>
            </a:r>
            <a:r>
              <a:rPr lang="en-US" altLang="zh-CN" dirty="0"/>
              <a:t>**</a:t>
            </a:r>
            <a:endParaRPr lang="en-US" altLang="zh-CN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核心定义：</a:t>
            </a:r>
            <a:r>
              <a:rPr lang="en-US" altLang="zh-CN" dirty="0"/>
              <a:t>** **</a:t>
            </a:r>
            <a:r>
              <a:rPr lang="zh-CN" altLang="en-US" dirty="0"/>
              <a:t>（基于语义维度）</a:t>
            </a:r>
            <a:r>
              <a:rPr lang="en-US" altLang="zh-CN" dirty="0"/>
              <a:t>** </a:t>
            </a:r>
            <a:r>
              <a:rPr lang="zh-CN" altLang="en-US" dirty="0"/>
              <a:t>当语法没问题但意图未达成（如</a:t>
            </a:r>
            <a:r>
              <a:rPr lang="en-US" altLang="zh-CN" dirty="0"/>
              <a:t> Ping </a:t>
            </a:r>
            <a:r>
              <a:rPr lang="zh-CN" altLang="en-US" dirty="0"/>
              <a:t>不通）时，</a:t>
            </a:r>
            <a:r>
              <a:rPr lang="en-US" altLang="zh-CN" dirty="0"/>
              <a:t>Agent </a:t>
            </a:r>
            <a:r>
              <a:rPr lang="zh-CN" altLang="en-US" dirty="0"/>
              <a:t>能否进行逻辑修改？</a:t>
            </a:r>
            <a:endParaRPr lang="zh-CN" altLang="en-US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计算公式：</a:t>
            </a:r>
            <a:r>
              <a:rPr lang="en-US" altLang="zh-CN" dirty="0"/>
              <a:t>** $$ S_{refl} = \frac{N_{semantic\_resolved}}{N_{verify\_fail}} $$</a:t>
            </a:r>
            <a:endParaRPr lang="en-US" altLang="zh-CN" dirty="0"/>
          </a:p>
          <a:p>
            <a:r>
              <a:rPr lang="en-US" altLang="zh-CN" dirty="0"/>
              <a:t>    *   **</a:t>
            </a:r>
            <a:r>
              <a:rPr lang="zh-CN" altLang="en-US" dirty="0"/>
              <a:t>解读：</a:t>
            </a:r>
            <a:r>
              <a:rPr lang="en-US" altLang="zh-CN" dirty="0"/>
              <a:t>** </a:t>
            </a:r>
            <a:r>
              <a:rPr lang="zh-CN" altLang="en-US" dirty="0"/>
              <a:t>分母是验证失败（</a:t>
            </a:r>
            <a:r>
              <a:rPr lang="en-US" altLang="zh-CN" dirty="0"/>
              <a:t>Verification Fail</a:t>
            </a:r>
            <a:r>
              <a:rPr lang="zh-CN" altLang="en-US" dirty="0"/>
              <a:t>）的次数，分子是经过修改配置后最终成功的次数。反映了模型在</a:t>
            </a:r>
            <a:r>
              <a:rPr lang="en-US" altLang="zh-CN" dirty="0"/>
              <a:t>**</a:t>
            </a:r>
            <a:r>
              <a:rPr lang="zh-CN" altLang="en-US" dirty="0"/>
              <a:t>逻辑层面</a:t>
            </a:r>
            <a:r>
              <a:rPr lang="en-US" altLang="zh-CN" dirty="0"/>
              <a:t>**</a:t>
            </a:r>
            <a:r>
              <a:rPr lang="zh-CN" altLang="en-US" dirty="0"/>
              <a:t>的纠错能力。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50"/>
              </a:lnSpc>
              <a:spcBef>
                <a:spcPts val="300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**</a:t>
            </a:r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这是我毕设最核心的部分。参考现有大模型评测标准，我提出了一套针对网络配置任务的</a:t>
            </a:r>
            <a:r>
              <a:rPr lang="en-US" altLang="zh-CN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双层评估体系</a:t>
            </a:r>
            <a:r>
              <a:rPr lang="en-US" altLang="zh-CN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zh-CN" altLang="en-US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利用这套评估体系，详细分析模型在不同难度任务下的能力边界（例如：是在复杂拓扑中</a:t>
            </a:r>
            <a:r>
              <a:rPr lang="en-US" altLang="zh-CN" dirty="0"/>
              <a:t>“</a:t>
            </a:r>
            <a:r>
              <a:rPr lang="zh-CN" altLang="en-US" dirty="0"/>
              <a:t>探索能力</a:t>
            </a:r>
            <a:r>
              <a:rPr lang="en-US" altLang="zh-CN" dirty="0"/>
              <a:t>”</a:t>
            </a:r>
            <a:r>
              <a:rPr lang="zh-CN" altLang="en-US" dirty="0"/>
              <a:t>下降，还是在私有协议中</a:t>
            </a:r>
            <a:r>
              <a:rPr lang="en-US" altLang="zh-CN" dirty="0"/>
              <a:t>“</a:t>
            </a:r>
            <a:r>
              <a:rPr lang="zh-CN" altLang="en-US" dirty="0"/>
              <a:t>理解能力</a:t>
            </a:r>
            <a:r>
              <a:rPr lang="en-US" altLang="zh-CN" dirty="0"/>
              <a:t>”</a:t>
            </a:r>
            <a:r>
              <a:rPr lang="zh-CN" altLang="en-US" dirty="0"/>
              <a:t>不足？）。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351" y="399605"/>
            <a:ext cx="2538904" cy="1074418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963169" y="2028084"/>
            <a:ext cx="10265664" cy="1356406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lang="en-US" altLang="en-US" sz="3600" b="0" kern="1200" cap="all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963169" y="2028083"/>
            <a:ext cx="10265664" cy="1376851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l">
              <a:defRPr lang="en-US" altLang="en-US" sz="3600" b="0" kern="1200" cap="all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1" name="图片 10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879823" y="6128951"/>
            <a:ext cx="1203271" cy="365125"/>
          </a:xfrm>
          <a:prstGeom prst="rect">
            <a:avLst/>
          </a:prstGeo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1721" y="6166165"/>
            <a:ext cx="1203271" cy="365125"/>
          </a:xfrm>
          <a:prstGeom prst="rect">
            <a:avLst/>
          </a:prstGeo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6" name="图片 5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5C307D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5C307D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3545" y="6060170"/>
            <a:ext cx="252328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3377" y="6055844"/>
            <a:ext cx="65855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51493" y="6060170"/>
            <a:ext cx="120327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1" name="图片 10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9" name="图片 8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3" name="图片 12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1" name="图片 10"/>
          <p:cNvPicPr/>
          <p:nvPr userDrawn="1"/>
        </p:nvPicPr>
        <p:blipFill rotWithShape="1">
          <a:blip r:embed="rId1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  <p:sp>
        <p:nvSpPr>
          <p:cNvPr id="2" name="圆角矩形 1"/>
          <p:cNvSpPr/>
          <p:nvPr userDrawn="1"/>
        </p:nvSpPr>
        <p:spPr>
          <a:xfrm>
            <a:off x="586670" y="651024"/>
            <a:ext cx="80595" cy="900000"/>
          </a:xfrm>
          <a:prstGeom prst="roundRect">
            <a:avLst>
              <a:gd name="adj" fmla="val 0"/>
            </a:avLst>
          </a:prstGeom>
          <a:solidFill>
            <a:srgbClr val="5C307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6565" rtl="0" eaLnBrk="1" latinLnBrk="0" hangingPunct="1">
        <a:spcBef>
          <a:spcPct val="0"/>
        </a:spcBef>
        <a:buNone/>
        <a:defRPr sz="2800" b="0" kern="1200" cap="all">
          <a:solidFill>
            <a:srgbClr val="5C307D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9931" y="2202587"/>
            <a:ext cx="10980549" cy="101102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4000" dirty="0"/>
              <a:t>面向意图驱动的网络配置：</a:t>
            </a:r>
            <a:r>
              <a:rPr lang="en-US" altLang="zh-CN" sz="4000" dirty="0"/>
              <a:t>LLM</a:t>
            </a:r>
            <a:r>
              <a:rPr lang="zh-CN" altLang="en-US" sz="4000" dirty="0"/>
              <a:t>智能体评测框架</a:t>
            </a:r>
            <a:endParaRPr kumimoji="1" lang="zh-CN" altLang="en-US" sz="4000" cap="none" dirty="0">
              <a:solidFill>
                <a:srgbClr val="5C307D"/>
              </a:solidFill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7BA8E6-E826-B147-AA17-E3D76A29629C}" type="slidenum">
              <a:rPr kumimoji="1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5C2F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5C2F7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副标题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3644388"/>
            <a:ext cx="12192000" cy="32136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姓名：</a:t>
            </a:r>
            <a:r>
              <a:rPr lang="zh-CN" alt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杜国豪</a:t>
            </a:r>
            <a:endParaRPr lang="zh-CN" altLang="en-US" sz="3200" b="1" baseline="300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指导老师：谢晓晖</a:t>
            </a:r>
            <a:endParaRPr kumimoji="0" lang="en-US" altLang="zh-CN" sz="3200" b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清华大学计算机科学与技术系</a:t>
            </a:r>
            <a:endParaRPr lang="en-US" altLang="zh-CN" sz="3200" b="1" baseline="300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研究背景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相关工作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研究思路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未来规划</a:t>
            </a: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目录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3377" y="2180498"/>
            <a:ext cx="10357699" cy="46775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网络配置天然</a:t>
            </a:r>
            <a:r>
              <a:rPr lang="zh-CN" altLang="en-US" sz="24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复杂且高风险</a:t>
            </a:r>
            <a:endParaRPr lang="zh-CN" altLang="en-US" sz="240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LLM/Agent </a:t>
            </a:r>
            <a:r>
              <a:rPr lang="zh-CN" altLang="en-US" sz="2400" dirty="0"/>
              <a:t>有潜力降低门槛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现有评测普遍停留在“</a:t>
            </a:r>
            <a:r>
              <a:rPr lang="zh-CN" altLang="en-US" sz="24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文本正确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需要一个“任务</a:t>
            </a:r>
            <a:r>
              <a:rPr lang="en-US" altLang="zh-CN" sz="2400" dirty="0"/>
              <a:t>+</a:t>
            </a:r>
            <a:r>
              <a:rPr lang="zh-CN" altLang="en-US" sz="2400" dirty="0"/>
              <a:t>环境</a:t>
            </a:r>
            <a:r>
              <a:rPr lang="en-US" altLang="zh-CN" sz="2400" dirty="0"/>
              <a:t>+</a:t>
            </a:r>
            <a:r>
              <a:rPr lang="zh-CN" altLang="en-US" sz="2400" dirty="0"/>
              <a:t>指标”一体化基准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核心问题：如何系统评测 </a:t>
            </a:r>
            <a:r>
              <a:rPr lang="en-US" altLang="zh-CN" sz="2400" dirty="0"/>
              <a:t>LLM Agent </a:t>
            </a:r>
            <a:r>
              <a:rPr lang="zh-CN" altLang="en-US" sz="2400" dirty="0"/>
              <a:t>在网络配置任务中能否配置成功、能否验证并纠错、为何失败？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研究背景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5306" y="1716626"/>
            <a:ext cx="11356693" cy="5141373"/>
          </a:xfrm>
        </p:spPr>
        <p:txBody>
          <a:bodyPr>
            <a:normAutofit fontScale="92500"/>
          </a:bodyPr>
          <a:lstStyle/>
          <a:p>
            <a:r>
              <a:rPr lang="en-US" altLang="zh-CN" sz="2400" dirty="0" err="1"/>
              <a:t>NetConfEval</a:t>
            </a:r>
            <a:r>
              <a:rPr lang="zh-CN" altLang="en-US" sz="2400" dirty="0"/>
              <a:t>（</a:t>
            </a:r>
            <a:r>
              <a:rPr lang="en-US" altLang="zh-CN" sz="2400" dirty="0"/>
              <a:t>CoNEXT’24</a:t>
            </a:r>
            <a:r>
              <a:rPr lang="zh-CN" altLang="en-US" sz="2400" dirty="0"/>
              <a:t>）：面向“生成</a:t>
            </a:r>
            <a:r>
              <a:rPr lang="en-US" altLang="zh-CN" sz="2400" dirty="0"/>
              <a:t>/</a:t>
            </a:r>
            <a:r>
              <a:rPr lang="zh-CN" altLang="en-US" sz="2400" dirty="0"/>
              <a:t>翻译类”网络配置任务的基准</a:t>
            </a:r>
            <a:endParaRPr lang="zh-CN" altLang="en-US" sz="2400" dirty="0"/>
          </a:p>
          <a:p>
            <a:r>
              <a:rPr lang="zh-CN" altLang="en-US" sz="2400" dirty="0"/>
              <a:t>关注问题：</a:t>
            </a:r>
            <a:r>
              <a:rPr lang="en-US" altLang="zh-CN" sz="2400" dirty="0"/>
              <a:t>LLM </a:t>
            </a:r>
            <a:r>
              <a:rPr lang="zh-CN" altLang="en-US" sz="2400" dirty="0"/>
              <a:t>能否把自然语言的网络需求</a:t>
            </a:r>
            <a:r>
              <a:rPr lang="en-US" altLang="zh-CN" sz="2400" dirty="0"/>
              <a:t>/</a:t>
            </a:r>
            <a:r>
              <a:rPr lang="zh-CN" altLang="en-US" sz="2400" dirty="0"/>
              <a:t>描述转成可用的形式化产物，用于配置与自动化</a:t>
            </a:r>
            <a:endParaRPr lang="zh-CN" altLang="en-US" sz="2400" dirty="0"/>
          </a:p>
          <a:p>
            <a:r>
              <a:rPr lang="zh-CN" altLang="en-US" sz="2400" dirty="0"/>
              <a:t>任务覆盖（典型 </a:t>
            </a:r>
            <a:r>
              <a:rPr lang="en-US" altLang="zh-CN" sz="2400" dirty="0"/>
              <a:t>4 </a:t>
            </a:r>
            <a:r>
              <a:rPr lang="zh-CN" altLang="en-US" sz="2400" dirty="0"/>
              <a:t>类）：</a:t>
            </a:r>
            <a:endParaRPr lang="zh-CN" altLang="en-US" sz="2400" dirty="0"/>
          </a:p>
          <a:p>
            <a:pPr lvl="1"/>
            <a:r>
              <a:rPr lang="zh-CN" altLang="en-US" sz="2400" dirty="0"/>
              <a:t>需求 → 形式化规格（</a:t>
            </a:r>
            <a:r>
              <a:rPr lang="en-US" altLang="zh-CN" sz="2400" dirty="0"/>
              <a:t>formal specification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/>
            <a:r>
              <a:rPr lang="zh-CN" altLang="en-US" sz="2400" dirty="0"/>
              <a:t>需求 → </a:t>
            </a:r>
            <a:r>
              <a:rPr lang="en-US" altLang="zh-CN" sz="2400" dirty="0"/>
              <a:t>API/</a:t>
            </a:r>
            <a:r>
              <a:rPr lang="zh-CN" altLang="en-US" sz="2400" dirty="0"/>
              <a:t>函数调用（面向</a:t>
            </a:r>
            <a:r>
              <a:rPr lang="en-US" altLang="zh-CN" sz="2400" dirty="0"/>
              <a:t>SDN/</a:t>
            </a:r>
            <a:r>
              <a:rPr lang="zh-CN" altLang="en-US" sz="2400" dirty="0"/>
              <a:t>自动化接口）</a:t>
            </a:r>
            <a:endParaRPr lang="zh-CN" altLang="en-US" sz="2400" dirty="0"/>
          </a:p>
          <a:p>
            <a:pPr lvl="1"/>
            <a:r>
              <a:rPr lang="zh-CN" altLang="en-US" sz="2400" dirty="0"/>
              <a:t>高层描述 → 路由算法代码（实现路径计算等）</a:t>
            </a:r>
            <a:endParaRPr lang="zh-CN" altLang="en-US" sz="2400" dirty="0"/>
          </a:p>
          <a:p>
            <a:pPr lvl="1"/>
            <a:r>
              <a:rPr lang="zh-CN" altLang="en-US" sz="2400" dirty="0"/>
              <a:t>文档</a:t>
            </a:r>
            <a:r>
              <a:rPr lang="en-US" altLang="zh-CN" sz="2400" dirty="0"/>
              <a:t>/</a:t>
            </a:r>
            <a:r>
              <a:rPr lang="zh-CN" altLang="en-US" sz="2400" dirty="0"/>
              <a:t>说明 → 低层协议配置（</a:t>
            </a:r>
            <a:r>
              <a:rPr lang="en-US" altLang="zh-CN" sz="2400" dirty="0"/>
              <a:t>low-level configuration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r>
              <a:rPr lang="zh-CN" altLang="en-US" sz="2400" dirty="0"/>
              <a:t>优点：任务类型更丰富，覆盖规格</a:t>
            </a:r>
            <a:r>
              <a:rPr lang="en-US" altLang="zh-CN" sz="2400" dirty="0"/>
              <a:t>/</a:t>
            </a:r>
            <a:r>
              <a:rPr lang="zh-CN" altLang="en-US" sz="2400" dirty="0"/>
              <a:t>调用</a:t>
            </a:r>
            <a:r>
              <a:rPr lang="en-US" altLang="zh-CN" sz="2400" dirty="0"/>
              <a:t>/</a:t>
            </a:r>
            <a:r>
              <a:rPr lang="zh-CN" altLang="en-US" sz="2400" dirty="0"/>
              <a:t>代码</a:t>
            </a:r>
            <a:r>
              <a:rPr lang="en-US" altLang="zh-CN" sz="2400" dirty="0"/>
              <a:t>/</a:t>
            </a:r>
            <a:r>
              <a:rPr lang="zh-CN" altLang="en-US" sz="2400" dirty="0"/>
              <a:t>配置等多形态输出，便于横向比较模型能力</a:t>
            </a:r>
            <a:endParaRPr lang="zh-CN" altLang="en-US" sz="2400" dirty="0"/>
          </a:p>
          <a:p>
            <a:r>
              <a:rPr lang="zh-CN" altLang="en-US" sz="2400" dirty="0"/>
              <a:t>局限：整体更偏生成正确性，对真实设备</a:t>
            </a:r>
            <a:r>
              <a:rPr lang="en-US" altLang="zh-CN" sz="2400" dirty="0"/>
              <a:t>/</a:t>
            </a:r>
            <a:r>
              <a:rPr lang="zh-CN" altLang="en-US" sz="2400" dirty="0"/>
              <a:t>仿真环境闭环验证 </a:t>
            </a:r>
            <a:r>
              <a:rPr lang="en-US" altLang="zh-CN" sz="2400" dirty="0"/>
              <a:t>+ </a:t>
            </a:r>
            <a:r>
              <a:rPr lang="zh-CN" altLang="en-US" sz="2400" dirty="0"/>
              <a:t>迭代纠错过程的系统评测相对弱（过程层指标不突出）</a:t>
            </a:r>
            <a:endParaRPr lang="zh-CN" altLang="en-US" sz="2400" dirty="0"/>
          </a:p>
          <a:p>
            <a:pPr lvl="1"/>
            <a:endParaRPr lang="zh-CN" altLang="en-US" sz="2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相关工作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5306" y="1763822"/>
            <a:ext cx="11356694" cy="50941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200" dirty="0"/>
              <a:t>NETLLMBENCH</a:t>
            </a:r>
            <a:r>
              <a:rPr lang="zh-CN" altLang="en-US" sz="2200" dirty="0"/>
              <a:t>（</a:t>
            </a:r>
            <a:r>
              <a:rPr lang="en-US" altLang="zh-CN" sz="2200" dirty="0"/>
              <a:t>TUM</a:t>
            </a:r>
            <a:r>
              <a:rPr lang="zh-CN" altLang="en-US" sz="2200" dirty="0"/>
              <a:t>）：面向“闭环验证”的网络配置评测框架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关注问题：把 </a:t>
            </a:r>
            <a:r>
              <a:rPr lang="en-US" altLang="zh-CN" sz="2200" dirty="0"/>
              <a:t>prompt </a:t>
            </a:r>
            <a:r>
              <a:rPr lang="zh-CN" altLang="en-US" sz="2200" dirty="0"/>
              <a:t>工程 </a:t>
            </a:r>
            <a:r>
              <a:rPr lang="en-US" altLang="zh-CN" sz="2200" dirty="0"/>
              <a:t>+ </a:t>
            </a:r>
            <a:r>
              <a:rPr lang="zh-CN" altLang="en-US" sz="2200" dirty="0"/>
              <a:t>网络仿真</a:t>
            </a:r>
            <a:r>
              <a:rPr lang="en-US" altLang="zh-CN" sz="2200" dirty="0"/>
              <a:t>/</a:t>
            </a:r>
            <a:r>
              <a:rPr lang="zh-CN" altLang="en-US" sz="2200" dirty="0"/>
              <a:t>仿真反馈结合，闭环验证 </a:t>
            </a:r>
            <a:r>
              <a:rPr lang="en-US" altLang="zh-CN" sz="2200" dirty="0"/>
              <a:t>LLM </a:t>
            </a:r>
            <a:r>
              <a:rPr lang="zh-CN" altLang="en-US" sz="2200" dirty="0"/>
              <a:t>的配置结果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框架特点：四阶段流程（任务定义→测试→格式校验→仿真），要求输出</a:t>
            </a:r>
            <a:r>
              <a:rPr lang="en-US" altLang="zh-CN" sz="2200" dirty="0"/>
              <a:t>JSON</a:t>
            </a:r>
            <a:r>
              <a:rPr lang="zh-CN" altLang="en-US" sz="2200" dirty="0"/>
              <a:t>结构；包含 </a:t>
            </a:r>
            <a:r>
              <a:rPr lang="en-US" altLang="zh-CN" sz="2200" dirty="0"/>
              <a:t>JSON verifier</a:t>
            </a:r>
            <a:r>
              <a:rPr lang="zh-CN" altLang="en-US" sz="2200" dirty="0"/>
              <a:t>、示例纠错提示，甚至用一个“</a:t>
            </a:r>
            <a:r>
              <a:rPr lang="en-US" altLang="zh-CN" sz="2200" dirty="0"/>
              <a:t>Master LLM”</a:t>
            </a:r>
            <a:r>
              <a:rPr lang="zh-CN" altLang="en-US" sz="2200" dirty="0"/>
              <a:t>兜底修正格式；再把命令送入仿真器获取错误反馈并迭代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任务示例：在给定拓扑中完成 </a:t>
            </a:r>
            <a:r>
              <a:rPr lang="en-US" altLang="zh-CN" sz="2200" dirty="0"/>
              <a:t>IP </a:t>
            </a:r>
            <a:r>
              <a:rPr lang="zh-CN" altLang="en-US" sz="2200" dirty="0"/>
              <a:t>地址、默认网关等配置，并在仿真环境中验证可达性等结果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优点：强调“能否在环境中跑通”的客观验证，流程可复现（代码开源）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局限：任务构建目前偏人工定义、场景相对有限；评价侧更关注任务是否完成</a:t>
            </a:r>
            <a:r>
              <a:rPr lang="en-US" altLang="zh-CN" sz="2200" dirty="0"/>
              <a:t>/</a:t>
            </a:r>
            <a:r>
              <a:rPr lang="zh-CN" altLang="en-US" sz="2200" dirty="0"/>
              <a:t>迭代次数等，过程推理质量与任务</a:t>
            </a:r>
            <a:r>
              <a:rPr lang="en-US" altLang="zh-CN" sz="2200" dirty="0"/>
              <a:t>taxonomy</a:t>
            </a:r>
            <a:r>
              <a:rPr lang="zh-CN" altLang="en-US" sz="2200" dirty="0"/>
              <a:t>仍可进一步细化</a:t>
            </a:r>
            <a:endParaRPr lang="zh-CN" altLang="en-US" sz="2200" dirty="0"/>
          </a:p>
          <a:p>
            <a:pPr lvl="1"/>
            <a:endParaRPr lang="zh-CN" altLang="en-US" sz="2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相关工作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7BA8E6-E826-B147-AA17-E3D76A29629C}" type="slidenum">
              <a:rPr kumimoji="1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5C2F7D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5C2F7D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78485" y="1764030"/>
            <a:ext cx="2757170" cy="311658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zh-CN" altLang="en-US" dirty="0">
                <a:sym typeface="+mn-ea"/>
              </a:rPr>
              <a:t>基于团队前期工作 (NetConfBench)：</a:t>
            </a:r>
            <a:endParaRPr lang="zh-CN" altLang="en-US" dirty="0">
              <a:sym typeface="+mn-ea"/>
            </a:endParaRPr>
          </a:p>
          <a:p>
            <a:pPr marL="306070" lvl="1" algn="l">
              <a:lnSpc>
                <a:spcPct val="90000"/>
              </a:lnSpc>
              <a:spcAft>
                <a:spcPts val="600"/>
              </a:spcAft>
            </a:pPr>
            <a:r>
              <a:rPr lang="zh-CN" altLang="en-US" sz="1800" dirty="0">
                <a:sym typeface="+mn-ea"/>
              </a:rPr>
              <a:t>已实现 MCP Server 与 GNS3 仿真器的对接</a:t>
            </a:r>
            <a:endParaRPr lang="zh-CN" altLang="en-US" sz="1800" dirty="0">
              <a:sym typeface="+mn-ea"/>
            </a:endParaRPr>
          </a:p>
          <a:p>
            <a:pPr marL="306070" lvl="1" algn="l">
              <a:lnSpc>
                <a:spcPct val="90000"/>
              </a:lnSpc>
              <a:spcAft>
                <a:spcPts val="600"/>
              </a:spcAft>
            </a:pPr>
            <a:r>
              <a:rPr lang="zh-CN" altLang="en-US" sz="1800" dirty="0">
                <a:sym typeface="+mn-ea"/>
              </a:rPr>
              <a:t>打通了“指令下发”与“回显采集”通路</a:t>
            </a:r>
            <a:endParaRPr lang="zh-CN" altLang="en-US" sz="1800" dirty="0">
              <a:sym typeface="+mn-ea"/>
            </a:endParaRPr>
          </a:p>
          <a:p>
            <a:pPr>
              <a:lnSpc>
                <a:spcPct val="90000"/>
              </a:lnSpc>
            </a:pPr>
            <a:endParaRPr lang="zh-CN" altLang="en-US" sz="1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相关工作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7BA8E6-E826-B147-AA17-E3D76A29629C}" type="slidenum">
              <a:rPr kumimoji="1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5C2F7D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5C2F7D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7425" y="1464945"/>
            <a:ext cx="831469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zh-CN" altLang="en-US" sz="2200" dirty="0">
                <a:sym typeface="+mn-ea"/>
              </a:rPr>
              <a:t>提出针对网络配置任务的“双层评估架构”：</a:t>
            </a:r>
            <a:endParaRPr lang="zh-CN" altLang="en-US" sz="2200" dirty="0">
              <a:sym typeface="+mn-ea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endParaRPr lang="zh-CN" altLang="en-US" sz="2200" dirty="0"/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zh-CN" altLang="en-US" sz="2200" dirty="0">
                <a:sym typeface="+mn-ea"/>
              </a:rPr>
              <a:t>第一层：任务层面 (Task Level)</a:t>
            </a:r>
            <a:endParaRPr lang="zh-CN" altLang="en-US" sz="2200" dirty="0">
              <a:sym typeface="+mn-ea"/>
            </a:endParaRPr>
          </a:p>
          <a:p>
            <a:pPr marL="306070" lvl="1" algn="l">
              <a:lnSpc>
                <a:spcPct val="90000"/>
              </a:lnSpc>
              <a:spcAft>
                <a:spcPts val="600"/>
              </a:spcAft>
            </a:pPr>
            <a:r>
              <a:rPr lang="zh-CN" altLang="en-US" sz="2200" dirty="0">
                <a:sym typeface="+mn-ea"/>
              </a:rPr>
              <a:t>衡量“做得怎么样？” (交付质量)</a:t>
            </a:r>
            <a:endParaRPr lang="zh-CN" altLang="en-US" sz="2200" dirty="0">
              <a:sym typeface="+mn-ea"/>
            </a:endParaRPr>
          </a:p>
          <a:p>
            <a:pPr marL="306070" lvl="1" algn="l">
              <a:lnSpc>
                <a:spcPct val="90000"/>
              </a:lnSpc>
              <a:spcAft>
                <a:spcPts val="600"/>
              </a:spcAft>
            </a:pPr>
            <a:endParaRPr lang="zh-CN" altLang="en-US" sz="2200" dirty="0"/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zh-CN" altLang="en-US" sz="2200" dirty="0">
                <a:sym typeface="+mn-ea"/>
              </a:rPr>
              <a:t>第二层：能力层面 (Capability Level)</a:t>
            </a:r>
            <a:endParaRPr lang="zh-CN" altLang="en-US" sz="2200" dirty="0">
              <a:sym typeface="+mn-ea"/>
            </a:endParaRPr>
          </a:p>
          <a:p>
            <a:pPr marL="306070" lvl="1" algn="l">
              <a:lnSpc>
                <a:spcPct val="90000"/>
              </a:lnSpc>
              <a:spcAft>
                <a:spcPts val="600"/>
              </a:spcAft>
            </a:pPr>
            <a:r>
              <a:rPr lang="zh-CN" altLang="en-US" sz="2200" dirty="0">
                <a:sym typeface="+mn-ea"/>
              </a:rPr>
              <a:t>诊断“为什么做不到？” (原因分析)</a:t>
            </a:r>
            <a:endParaRPr lang="zh-CN" altLang="en-US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研究目标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5025" y="2109470"/>
            <a:ext cx="9105900" cy="440880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配置准确度</a:t>
            </a:r>
            <a:r>
              <a:rPr lang="en-US" altLang="zh-CN" sz="2200" b="0" dirty="0">
                <a:solidFill>
                  <a:schemeClr val="tx2"/>
                </a:solidFill>
                <a:latin typeface="+mn-lt"/>
                <a:sym typeface="+mn-ea"/>
              </a:rPr>
              <a:t> </a:t>
            </a: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(</a:t>
            </a:r>
            <a:r>
              <a:rPr lang="en-US" altLang="zh-CN" sz="2200" b="0" dirty="0">
                <a:solidFill>
                  <a:schemeClr val="tx2"/>
                </a:solidFill>
                <a:latin typeface="+mn-lt"/>
                <a:sym typeface="+mn-ea"/>
              </a:rPr>
              <a:t>configuration accuracy</a:t>
            </a: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)：</a:t>
            </a:r>
            <a:endParaRPr lang="zh-CN" altLang="en-US" sz="2200" b="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对比模型生成的“生效配置”与专家“参考配置”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计算配置行的精确率 (Precision) 与召回率 (Recall)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endParaRPr lang="zh-CN" altLang="en-US" sz="2200" dirty="0"/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意图满足率 (Intent Satisfaction)：</a:t>
            </a:r>
            <a:endParaRPr lang="zh-CN" altLang="en-US" sz="2200" b="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不只看代码差异，更看业务效果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自动化测试例：Ping 连通性测试、ACL 穿透测试等</a:t>
            </a:r>
            <a:endParaRPr lang="zh-CN" altLang="en-US" sz="2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任务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层面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5025" y="1690370"/>
            <a:ext cx="10077450" cy="516763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理解能力 (Understanding) — 幻觉检测：</a:t>
            </a:r>
            <a:endParaRPr lang="zh-CN" altLang="en-US" sz="2200" b="0" dirty="0">
              <a:solidFill>
                <a:schemeClr val="tx2"/>
              </a:solidFill>
              <a:latin typeface="+mn-lt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意义：量化模型“瞎编”不存在命令的程度</a:t>
            </a:r>
            <a:endParaRPr lang="zh-CN" altLang="en-US" sz="2200" dirty="0">
              <a:solidFill>
                <a:schemeClr val="tx2"/>
              </a:solidFill>
              <a:latin typeface="+mn-lt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推理能力 (Reasoning) — 状态误判：</a:t>
            </a:r>
            <a:endParaRPr lang="zh-CN" altLang="en-US" sz="2200" b="0" dirty="0">
              <a:solidFill>
                <a:schemeClr val="tx2"/>
              </a:solidFill>
              <a:latin typeface="+mn-lt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意义：捕捉“盲目自信”(Failed but Submitted)的逻辑漏洞</a:t>
            </a:r>
            <a:endParaRPr lang="zh-CN" altLang="en-US" sz="2200" dirty="0">
              <a:solidFill>
                <a:schemeClr val="tx2"/>
              </a:solidFill>
              <a:latin typeface="+mn-lt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探索能力 (Exploration) — 语法试错与修正：</a:t>
            </a:r>
            <a:endParaRPr lang="zh-CN" altLang="en-US" sz="2200" b="0" dirty="0">
              <a:solidFill>
                <a:schemeClr val="tx2"/>
              </a:solidFill>
              <a:latin typeface="+mn-lt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意义：识别陷入A-&gt;B-&gt;A思维僵局的情况</a:t>
            </a:r>
            <a:endParaRPr lang="zh-CN" altLang="en-US" sz="2200" dirty="0">
              <a:solidFill>
                <a:schemeClr val="tx2"/>
              </a:solidFill>
              <a:latin typeface="+mn-lt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反思能力 (Reflection) — 语义验证与修正：</a:t>
            </a:r>
            <a:endParaRPr lang="zh-CN" altLang="en-US" sz="2200" b="0" dirty="0">
              <a:solidFill>
                <a:schemeClr val="tx2"/>
              </a:solidFill>
              <a:latin typeface="+mn-lt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意义：区分“无脑重试”与“智能纠错”</a:t>
            </a:r>
            <a:endParaRPr lang="zh-CN" altLang="en-US" sz="2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能力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层面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预期贡献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>
              <a:spcAft>
                <a:spcPts val="600"/>
              </a:spcAft>
              <a:defRPr sz="24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1. 异构日志解析引擎 (Log Parsing Engine)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难点：Cisco/Huawei/Juniper 各种私有且非结构化的回显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工作量：基于状态机和正则，实现全量 CLI 日志结构化清洗</a:t>
            </a:r>
            <a:endParaRPr lang="zh-CN" altLang="en-US" sz="2200" b="0" dirty="0">
              <a:solidFill>
                <a:schemeClr val="tx2"/>
              </a:solidFill>
              <a:latin typeface="+mn-lt"/>
            </a:endParaRPr>
          </a:p>
          <a:p>
            <a:pPr>
              <a:spcAft>
                <a:spcPts val="600"/>
              </a:spcAft>
              <a:defRPr sz="24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2. 认知行为追踪模块 (Cognitive Tracer)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难点：如何量化“犹豫”、“幻觉”等抽象思维？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工作量：开发思维链 (CoT) 追踪算法，捕捉交互过程中的特征</a:t>
            </a:r>
            <a:endParaRPr lang="zh-CN" altLang="en-US" sz="2200" b="0" dirty="0">
              <a:solidFill>
                <a:schemeClr val="tx2"/>
              </a:solidFill>
              <a:latin typeface="+mn-lt"/>
            </a:endParaRPr>
          </a:p>
          <a:p>
            <a:pPr>
              <a:spcAft>
                <a:spcPts val="600"/>
              </a:spcAft>
              <a:defRPr sz="24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3. 闭环验证流水线 (Closed-loop Pipeline)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实现“意图注入-配置下发-流量验证”全流程自动化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能够无人值守批量运行数百个测试用例</a:t>
            </a:r>
            <a:endParaRPr lang="zh-CN" altLang="en-US" sz="2200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5025" y="1182370"/>
            <a:ext cx="8320405" cy="427482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1月-2月：指标实现与基线测试</a:t>
            </a:r>
            <a:endParaRPr lang="zh-CN" altLang="en-US" sz="2200" b="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编写 F1、意图及四大能力指标的自动化计算脚本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选取基础模型运行测试并设计工作流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endParaRPr lang="zh-CN" altLang="en-US" sz="2200" dirty="0">
              <a:solidFill>
                <a:schemeClr val="tx2"/>
              </a:solidFill>
              <a:latin typeface="+mn-lt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3月-4月：深度评估与案例分析</a:t>
            </a:r>
            <a:endParaRPr lang="zh-CN" altLang="en-US" sz="2200" b="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开发</a:t>
            </a:r>
            <a:r>
              <a:rPr lang="zh-CN" altLang="en-US" sz="2200" dirty="0">
                <a:solidFill>
                  <a:schemeClr val="tx2"/>
                </a:solidFill>
                <a:latin typeface="+mn-lt"/>
                <a:sym typeface="+mn-ea"/>
              </a:rPr>
              <a:t>核心模块，分析不同难度任务下的能力边界</a:t>
            </a:r>
            <a:endParaRPr lang="zh-CN" altLang="en-US" sz="2200" dirty="0">
              <a:solidFill>
                <a:schemeClr val="tx2"/>
              </a:solidFill>
              <a:latin typeface="+mn-lt"/>
              <a:sym typeface="+mn-ea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dirty="0">
                <a:solidFill>
                  <a:schemeClr val="tx2"/>
                </a:solidFill>
                <a:latin typeface="+mn-lt"/>
              </a:rPr>
              <a:t>在现有基础上完成知识检索 Agent、智能协同Agent</a:t>
            </a:r>
            <a:endParaRPr lang="zh-CN" altLang="en-US" sz="2200" dirty="0">
              <a:solidFill>
                <a:schemeClr val="tx2"/>
              </a:solidFill>
              <a:latin typeface="+mn-lt"/>
            </a:endParaRPr>
          </a:p>
          <a:p>
            <a:pPr lvl="1">
              <a:spcAft>
                <a:spcPts val="600"/>
              </a:spcAft>
              <a:defRPr sz="2000" b="0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endParaRPr lang="zh-CN" altLang="en-US" sz="2200" dirty="0">
              <a:solidFill>
                <a:schemeClr val="tx2"/>
              </a:solidFill>
              <a:latin typeface="+mn-lt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323232"/>
                </a:solidFill>
                <a:latin typeface="微软雅黑" panose="020B0503020204020204" pitchFamily="34" charset="-122"/>
              </a:defRPr>
            </a:pPr>
            <a:r>
              <a:rPr lang="zh-CN" altLang="en-US" sz="2200" b="0" dirty="0">
                <a:solidFill>
                  <a:schemeClr val="tx2"/>
                </a:solidFill>
                <a:latin typeface="+mn-lt"/>
                <a:sym typeface="+mn-ea"/>
              </a:rPr>
              <a:t>5月：论文撰写与答辩</a:t>
            </a:r>
            <a:endParaRPr lang="zh-CN" altLang="en-US" sz="2200" b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未来规划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10151493" y="1539732"/>
            <a:ext cx="0" cy="454840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10081996" y="1970385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080027" y="3539088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0080027" y="5107791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0080027" y="2754736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080027" y="4321163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483272" y="1852397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1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483272" y="2640862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2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483272" y="3425214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3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483271" y="4207289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4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8483271" y="4995754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5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0225856" y="1852397"/>
            <a:ext cx="147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方案定稿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10225856" y="2640862"/>
            <a:ext cx="147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基线实现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0225856" y="3425214"/>
            <a:ext cx="1696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进行实验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10220427" y="4213679"/>
            <a:ext cx="147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方法增强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10220427" y="5002144"/>
            <a:ext cx="147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撰写论文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请老师们批评指正！</a:t>
            </a:r>
            <a:endParaRPr lang="zh-CN" altLang="en-US" sz="4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607634" y="3819054"/>
            <a:ext cx="10978699" cy="1525761"/>
          </a:xfrm>
        </p:spPr>
        <p:txBody>
          <a:bodyPr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杜国豪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2026-1-15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清华简约主题-扁平-16:9">
  <a:themeElements>
    <a:clrScheme name="自定义 6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5B2F7C"/>
      </a:accent1>
      <a:accent2>
        <a:srgbClr val="5C2F7D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1833</Words>
  <Application>WPS 演示</Application>
  <PresentationFormat>宽屏</PresentationFormat>
  <Paragraphs>155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Wingdings 2</vt:lpstr>
      <vt:lpstr>华文中宋</vt:lpstr>
      <vt:lpstr>微软雅黑</vt:lpstr>
      <vt:lpstr>Times New Roman</vt:lpstr>
      <vt:lpstr>楷体</vt:lpstr>
      <vt:lpstr>等线</vt:lpstr>
      <vt:lpstr>Gill Sans MT</vt:lpstr>
      <vt:lpstr>Arial Unicode MS</vt:lpstr>
      <vt:lpstr>清华简约主题-扁平-16:9</vt:lpstr>
      <vt:lpstr>面向意图驱动的网络配置：LLM智能体评测框架</vt:lpstr>
      <vt:lpstr>目录</vt:lpstr>
      <vt:lpstr>研究背景</vt:lpstr>
      <vt:lpstr>相关工作</vt:lpstr>
      <vt:lpstr>相关工作</vt:lpstr>
      <vt:lpstr>相关工作</vt:lpstr>
      <vt:lpstr>研究目标</vt:lpstr>
      <vt:lpstr>任务层面</vt:lpstr>
      <vt:lpstr>能力层面</vt:lpstr>
      <vt:lpstr>预期贡献</vt:lpstr>
      <vt:lpstr>未来规划</vt:lpstr>
      <vt:lpstr>请老师们批评指正！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楚怡 王</dc:creator>
  <cp:lastModifiedBy>杜国豪(2018011346)</cp:lastModifiedBy>
  <cp:revision>354</cp:revision>
  <dcterms:created xsi:type="dcterms:W3CDTF">2024-09-23T08:41:00Z</dcterms:created>
  <dcterms:modified xsi:type="dcterms:W3CDTF">2026-01-14T02:55:52Z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8991DB8DC37A422980780EA0A7CBBD96_12</vt:lpwstr>
  </property>
  <property fmtid="{D5CDD505-2E9C-101B-9397-08002B2CF9AE}" pid="3" name="KSOProductBuildVer">
    <vt:lpwstr>2052-12.1.0.21541</vt:lpwstr>
  </property>
</Properties>
</file>