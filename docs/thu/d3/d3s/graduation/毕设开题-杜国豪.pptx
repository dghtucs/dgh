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302" r:id="rId3"/>
    <p:sldId id="290" r:id="rId4"/>
    <p:sldId id="296" r:id="rId5"/>
    <p:sldId id="297" r:id="rId6"/>
    <p:sldId id="291" r:id="rId7"/>
    <p:sldId id="300" r:id="rId8"/>
    <p:sldId id="265" r:id="rId9"/>
    <p:sldId id="294" r:id="rId10"/>
    <p:sldId id="30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EDE4F4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34" autoAdjust="0"/>
    <p:restoredTop sz="82533" autoAdjust="0"/>
  </p:normalViewPr>
  <p:slideViewPr>
    <p:cSldViewPr snapToGrid="0">
      <p:cViewPr varScale="1">
        <p:scale>
          <a:sx n="106" d="100"/>
          <a:sy n="106" d="100"/>
        </p:scale>
        <p:origin x="236" y="5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9B24D-97BA-4222-912C-595D68994055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88DD9-0065-4EDD-ADC7-AA27F12F3C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5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8717E-F74C-4246-A795-6577BEDC838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我的工作将从研究背景、相关工作、研究思路和未来规划等方面展开。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999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要点 </a:t>
            </a:r>
            <a:r>
              <a:rPr lang="en-US" altLang="zh-CN" b="1" dirty="0"/>
              <a:t>1</a:t>
            </a:r>
            <a:r>
              <a:rPr lang="zh-CN" altLang="en-US" b="1" dirty="0"/>
              <a:t>｜网络配置天然复杂且高风险</a:t>
            </a:r>
            <a:endParaRPr lang="zh-CN" altLang="en-US" dirty="0"/>
          </a:p>
          <a:p>
            <a:r>
              <a:rPr lang="zh-CN" altLang="en-US" dirty="0"/>
              <a:t>多设备</a:t>
            </a:r>
            <a:r>
              <a:rPr lang="en-US" altLang="zh-CN" dirty="0"/>
              <a:t>/</a:t>
            </a:r>
            <a:r>
              <a:rPr lang="zh-CN" altLang="en-US" dirty="0"/>
              <a:t>多协议联动（如 </a:t>
            </a:r>
            <a:r>
              <a:rPr lang="en-US" altLang="zh-CN" dirty="0"/>
              <a:t>BGP/OSPF/ACL/NAT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依赖顺序强、状态不可见性强（配对了不等于生效）</a:t>
            </a:r>
          </a:p>
          <a:p>
            <a:r>
              <a:rPr lang="zh-CN" altLang="en-US" dirty="0"/>
              <a:t>一次错误配置可能导致业务中断，验证成本高</a:t>
            </a:r>
          </a:p>
          <a:p>
            <a:r>
              <a:rPr lang="zh-CN" altLang="en-US" b="1" dirty="0"/>
              <a:t>要点 </a:t>
            </a:r>
            <a:r>
              <a:rPr lang="en-US" altLang="zh-CN" b="1" dirty="0"/>
              <a:t>2</a:t>
            </a:r>
            <a:r>
              <a:rPr lang="zh-CN" altLang="en-US" b="1" dirty="0"/>
              <a:t>｜</a:t>
            </a:r>
            <a:r>
              <a:rPr lang="en-US" altLang="zh-CN" b="1" dirty="0"/>
              <a:t>LLM/Agent </a:t>
            </a:r>
            <a:r>
              <a:rPr lang="zh-CN" altLang="en-US" b="1" dirty="0"/>
              <a:t>有潜力降低门槛</a:t>
            </a:r>
            <a:endParaRPr lang="zh-CN" altLang="en-US" dirty="0"/>
          </a:p>
          <a:p>
            <a:r>
              <a:rPr lang="zh-CN" altLang="en-US" dirty="0"/>
              <a:t>能把“自然语言意图”转成配置操作</a:t>
            </a:r>
          </a:p>
          <a:p>
            <a:r>
              <a:rPr lang="zh-CN" altLang="en-US" dirty="0"/>
              <a:t>能利用交互反馈（</a:t>
            </a:r>
            <a:r>
              <a:rPr lang="en-US" altLang="zh-CN" dirty="0"/>
              <a:t>show / ping / traceroute</a:t>
            </a:r>
            <a:r>
              <a:rPr lang="zh-CN" altLang="en-US" dirty="0"/>
              <a:t>）进行迭代纠错</a:t>
            </a:r>
          </a:p>
          <a:p>
            <a:r>
              <a:rPr lang="zh-CN" altLang="en-US" dirty="0"/>
              <a:t>有望提升自动化效率与可解释性</a:t>
            </a:r>
          </a:p>
          <a:p>
            <a:r>
              <a:rPr lang="zh-CN" altLang="en-US" b="1" dirty="0"/>
              <a:t>要点 </a:t>
            </a:r>
            <a:r>
              <a:rPr lang="en-US" altLang="zh-CN" b="1" dirty="0"/>
              <a:t>3</a:t>
            </a:r>
            <a:r>
              <a:rPr lang="zh-CN" altLang="en-US" b="1" dirty="0"/>
              <a:t>｜但现有评测普遍停留在“文本正确”</a:t>
            </a:r>
            <a:endParaRPr lang="zh-CN" altLang="en-US" dirty="0"/>
          </a:p>
          <a:p>
            <a:r>
              <a:rPr lang="zh-CN" altLang="en-US" dirty="0"/>
              <a:t>常用 </a:t>
            </a:r>
            <a:r>
              <a:rPr lang="en-US" altLang="zh-CN" dirty="0"/>
              <a:t>NLP </a:t>
            </a:r>
            <a:r>
              <a:rPr lang="zh-CN" altLang="en-US" dirty="0"/>
              <a:t>指标</a:t>
            </a:r>
            <a:r>
              <a:rPr lang="en-US" altLang="zh-CN" dirty="0"/>
              <a:t>/</a:t>
            </a:r>
            <a:r>
              <a:rPr lang="zh-CN" altLang="en-US" dirty="0"/>
              <a:t>人工主观打分，难反映“配置是否真的生效”</a:t>
            </a:r>
          </a:p>
          <a:p>
            <a:r>
              <a:rPr lang="zh-CN" altLang="en-US" dirty="0"/>
              <a:t>缺少交互式闭环评测：生成 → 下发 → 反馈 → 修复 → 验证</a:t>
            </a:r>
          </a:p>
          <a:p>
            <a:r>
              <a:rPr lang="zh-CN" altLang="en-US" dirty="0"/>
              <a:t>缺少对</a:t>
            </a:r>
            <a:r>
              <a:rPr lang="zh-CN" altLang="en-US" b="1" dirty="0"/>
              <a:t>推理过程</a:t>
            </a:r>
            <a:r>
              <a:rPr lang="en-US" altLang="zh-CN" b="1" dirty="0"/>
              <a:t>/</a:t>
            </a:r>
            <a:r>
              <a:rPr lang="zh-CN" altLang="en-US" b="1" dirty="0"/>
              <a:t>中间步骤有效性</a:t>
            </a:r>
            <a:r>
              <a:rPr lang="zh-CN" altLang="en-US" dirty="0"/>
              <a:t>的度量与诊断</a:t>
            </a:r>
          </a:p>
          <a:p>
            <a:r>
              <a:rPr lang="zh-CN" altLang="en-US" b="1" dirty="0"/>
              <a:t>要点 </a:t>
            </a:r>
            <a:r>
              <a:rPr lang="en-US" altLang="zh-CN" b="1" dirty="0"/>
              <a:t>4</a:t>
            </a:r>
            <a:r>
              <a:rPr lang="zh-CN" altLang="en-US" b="1" dirty="0"/>
              <a:t>｜因此需要一个“任务</a:t>
            </a:r>
            <a:r>
              <a:rPr lang="en-US" altLang="zh-CN" b="1" dirty="0"/>
              <a:t>+</a:t>
            </a:r>
            <a:r>
              <a:rPr lang="zh-CN" altLang="en-US" b="1" dirty="0"/>
              <a:t>环境</a:t>
            </a:r>
            <a:r>
              <a:rPr lang="en-US" altLang="zh-CN" b="1" dirty="0"/>
              <a:t>+</a:t>
            </a:r>
            <a:r>
              <a:rPr lang="zh-CN" altLang="en-US" b="1" dirty="0"/>
              <a:t>指标”一体化基准</a:t>
            </a:r>
            <a:endParaRPr lang="zh-CN" altLang="en-US" dirty="0"/>
          </a:p>
          <a:p>
            <a:r>
              <a:rPr lang="zh-CN" altLang="en-US" dirty="0"/>
              <a:t>构建可复现的网络配置任务集</a:t>
            </a:r>
          </a:p>
          <a:p>
            <a:r>
              <a:rPr lang="zh-CN" altLang="en-US" dirty="0"/>
              <a:t>提供仿真</a:t>
            </a:r>
            <a:r>
              <a:rPr lang="en-US" altLang="zh-CN" dirty="0"/>
              <a:t>/</a:t>
            </a:r>
            <a:r>
              <a:rPr lang="zh-CN" altLang="en-US" dirty="0"/>
              <a:t>验证环境与自动化 </a:t>
            </a:r>
            <a:r>
              <a:rPr lang="en-US" altLang="zh-CN" dirty="0"/>
              <a:t>testcase</a:t>
            </a:r>
          </a:p>
          <a:p>
            <a:r>
              <a:rPr lang="zh-CN" altLang="en-US" dirty="0"/>
              <a:t>用多维指标衡量：命令有效率、意图满足率、推理</a:t>
            </a:r>
            <a:r>
              <a:rPr lang="en-US" altLang="zh-CN" dirty="0"/>
              <a:t>/</a:t>
            </a:r>
            <a:r>
              <a:rPr lang="zh-CN" altLang="en-US" dirty="0"/>
              <a:t>纠错质量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691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354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sz="2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3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746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b="1" dirty="0"/>
              <a:t>Step 1</a:t>
            </a:r>
            <a:r>
              <a:rPr lang="zh-CN" altLang="en-US" sz="2400" b="1" dirty="0"/>
              <a:t>｜任务建模与分类体系（</a:t>
            </a:r>
            <a:r>
              <a:rPr lang="en-US" altLang="zh-CN" sz="2400" b="1" dirty="0"/>
              <a:t>What to evaluate</a:t>
            </a:r>
            <a:r>
              <a:rPr lang="zh-CN" altLang="en-US" sz="2400" b="1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定义任务数据结构：意图、拓扑、初始配置、约束、参考答案、自动化 </a:t>
            </a:r>
            <a:r>
              <a:rPr lang="en-US" altLang="zh-CN" sz="2400" dirty="0"/>
              <a:t>testcases</a:t>
            </a:r>
          </a:p>
          <a:p>
            <a:r>
              <a:rPr lang="zh-CN" altLang="en-US" sz="2400" dirty="0"/>
              <a:t>用更细粒度 </a:t>
            </a:r>
            <a:r>
              <a:rPr lang="en-US" altLang="zh-CN" sz="2400" dirty="0"/>
              <a:t>taxonomy </a:t>
            </a:r>
            <a:r>
              <a:rPr lang="zh-CN" altLang="en-US" sz="2400" dirty="0"/>
              <a:t>给任务打标签（协议</a:t>
            </a:r>
            <a:r>
              <a:rPr lang="en-US" altLang="zh-CN" sz="2400" dirty="0"/>
              <a:t>/</a:t>
            </a:r>
            <a:r>
              <a:rPr lang="zh-CN" altLang="en-US" sz="2400" dirty="0"/>
              <a:t>依赖</a:t>
            </a:r>
            <a:r>
              <a:rPr lang="en-US" altLang="zh-CN" sz="2400" dirty="0"/>
              <a:t>/</a:t>
            </a:r>
            <a:r>
              <a:rPr lang="zh-CN" altLang="en-US" sz="2400" dirty="0"/>
              <a:t>验证难度</a:t>
            </a:r>
            <a:r>
              <a:rPr lang="en-US" altLang="zh-CN" sz="2400" dirty="0"/>
              <a:t>/</a:t>
            </a:r>
            <a:r>
              <a:rPr lang="zh-CN" altLang="en-US" sz="2400" dirty="0"/>
              <a:t>知识依赖</a:t>
            </a:r>
            <a:r>
              <a:rPr lang="en-US" altLang="zh-CN" sz="2400" dirty="0"/>
              <a:t>/</a:t>
            </a:r>
            <a:r>
              <a:rPr lang="zh-CN" altLang="en-US" sz="2400" dirty="0"/>
              <a:t>变更方式）</a:t>
            </a:r>
          </a:p>
          <a:p>
            <a:r>
              <a:rPr lang="en-US" altLang="zh-CN" sz="2400" b="1" dirty="0"/>
              <a:t>Step 2</a:t>
            </a:r>
            <a:r>
              <a:rPr lang="zh-CN" altLang="en-US" sz="2400" b="1" dirty="0"/>
              <a:t>｜交互式评测环境搭建（</a:t>
            </a:r>
            <a:r>
              <a:rPr lang="en-US" altLang="zh-CN" sz="2400" b="1" dirty="0"/>
              <a:t>Where to evaluate</a:t>
            </a:r>
            <a:r>
              <a:rPr lang="zh-CN" altLang="en-US" sz="2400" b="1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在可复现的仿真</a:t>
            </a:r>
            <a:r>
              <a:rPr lang="en-US" altLang="zh-CN" sz="2400" dirty="0"/>
              <a:t>/</a:t>
            </a:r>
            <a:r>
              <a:rPr lang="zh-CN" altLang="en-US" sz="2400" dirty="0"/>
              <a:t>容器化环境中执行配置（多设备、多协议）</a:t>
            </a:r>
          </a:p>
          <a:p>
            <a:r>
              <a:rPr lang="zh-CN" altLang="en-US" sz="2400" dirty="0"/>
              <a:t>提供标准接口：下发配置、执行 </a:t>
            </a:r>
            <a:r>
              <a:rPr lang="en-US" altLang="zh-CN" sz="2400" dirty="0"/>
              <a:t>show/ping </a:t>
            </a:r>
            <a:r>
              <a:rPr lang="zh-CN" altLang="en-US" sz="2400" dirty="0"/>
              <a:t>等命令、采集回显与状态</a:t>
            </a:r>
          </a:p>
          <a:p>
            <a:r>
              <a:rPr lang="en-US" altLang="zh-CN" sz="2400" b="1" dirty="0"/>
              <a:t>Step 3</a:t>
            </a:r>
            <a:r>
              <a:rPr lang="zh-CN" altLang="en-US" sz="2400" b="1" dirty="0"/>
              <a:t>｜</a:t>
            </a:r>
            <a:r>
              <a:rPr lang="en-US" altLang="zh-CN" sz="2400" b="1" dirty="0"/>
              <a:t>Agent </a:t>
            </a:r>
            <a:r>
              <a:rPr lang="zh-CN" altLang="en-US" sz="2400" b="1" dirty="0"/>
              <a:t>设计与对比（</a:t>
            </a:r>
            <a:r>
              <a:rPr lang="en-US" altLang="zh-CN" sz="2400" b="1" dirty="0"/>
              <a:t>How to solve</a:t>
            </a:r>
            <a:r>
              <a:rPr lang="zh-CN" altLang="en-US" sz="2400" b="1" dirty="0"/>
              <a:t>）</a:t>
            </a:r>
            <a:endParaRPr lang="en-US" altLang="zh-CN" sz="2400" dirty="0"/>
          </a:p>
          <a:p>
            <a:r>
              <a:rPr lang="en-US" altLang="zh-CN" sz="2400" dirty="0"/>
              <a:t>Baseline</a:t>
            </a:r>
            <a:r>
              <a:rPr lang="zh-CN" altLang="en-US" sz="2400" dirty="0"/>
              <a:t>：单轮生成配置（无反馈</a:t>
            </a:r>
            <a:r>
              <a:rPr lang="en-US" altLang="zh-CN" sz="2400" dirty="0"/>
              <a:t>/</a:t>
            </a:r>
            <a:r>
              <a:rPr lang="zh-CN" altLang="en-US" sz="2400" dirty="0"/>
              <a:t>少反馈）</a:t>
            </a:r>
          </a:p>
          <a:p>
            <a:r>
              <a:rPr lang="zh-CN" altLang="en-US" sz="2400" dirty="0"/>
              <a:t>迭代式：</a:t>
            </a:r>
            <a:r>
              <a:rPr lang="en-US" altLang="zh-CN" sz="2400" dirty="0" err="1"/>
              <a:t>ReAct</a:t>
            </a:r>
            <a:r>
              <a:rPr lang="en-US" altLang="zh-CN" sz="2400" dirty="0"/>
              <a:t> / Retry</a:t>
            </a:r>
            <a:r>
              <a:rPr lang="zh-CN" altLang="en-US" sz="2400" dirty="0"/>
              <a:t>（利用报错与 </a:t>
            </a:r>
            <a:r>
              <a:rPr lang="en-US" altLang="zh-CN" sz="2400" dirty="0"/>
              <a:t>show </a:t>
            </a:r>
            <a:r>
              <a:rPr lang="zh-CN" altLang="en-US" sz="2400" dirty="0"/>
              <a:t>输出修复）</a:t>
            </a:r>
          </a:p>
          <a:p>
            <a:r>
              <a:rPr lang="zh-CN" altLang="en-US" sz="2400" dirty="0"/>
              <a:t>结构化：多智能体（</a:t>
            </a:r>
            <a:r>
              <a:rPr lang="en-US" altLang="zh-CN" sz="2400" dirty="0"/>
              <a:t>Planner-Executor-Verifier</a:t>
            </a:r>
            <a:r>
              <a:rPr lang="zh-CN" altLang="en-US" sz="2400" dirty="0"/>
              <a:t>）</a:t>
            </a:r>
            <a:r>
              <a:rPr lang="en-US" altLang="zh-CN" sz="2400" dirty="0"/>
              <a:t>+ </a:t>
            </a:r>
            <a:r>
              <a:rPr lang="zh-CN" altLang="en-US" sz="2400" dirty="0"/>
              <a:t>可选 </a:t>
            </a:r>
            <a:r>
              <a:rPr lang="en-US" altLang="zh-CN" sz="2400" dirty="0"/>
              <a:t>RAG</a:t>
            </a:r>
            <a:r>
              <a:rPr lang="zh-CN" altLang="en-US" sz="2400" dirty="0"/>
              <a:t>（查手册</a:t>
            </a:r>
            <a:r>
              <a:rPr lang="en-US" altLang="zh-CN" sz="2400" dirty="0"/>
              <a:t>/</a:t>
            </a:r>
            <a:r>
              <a:rPr lang="zh-CN" altLang="en-US" sz="2400" dirty="0"/>
              <a:t>模板）</a:t>
            </a:r>
          </a:p>
          <a:p>
            <a:r>
              <a:rPr lang="en-US" altLang="zh-CN" sz="2400" b="1" dirty="0"/>
              <a:t>Step 4</a:t>
            </a:r>
            <a:r>
              <a:rPr lang="zh-CN" altLang="en-US" sz="2400" b="1" dirty="0"/>
              <a:t>｜多维指标评测与诊断（</a:t>
            </a:r>
            <a:r>
              <a:rPr lang="en-US" altLang="zh-CN" sz="2400" b="1" dirty="0"/>
              <a:t>How to measure</a:t>
            </a:r>
            <a:r>
              <a:rPr lang="zh-CN" altLang="en-US" sz="2400" b="1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结果层：命令有效率、意图满足率（</a:t>
            </a:r>
            <a:r>
              <a:rPr lang="en-US" altLang="zh-CN" sz="2400" dirty="0"/>
              <a:t>testcase pass</a:t>
            </a:r>
            <a:r>
              <a:rPr lang="zh-CN" altLang="en-US" sz="2400" dirty="0"/>
              <a:t>）、配置</a:t>
            </a:r>
            <a:r>
              <a:rPr lang="en-US" altLang="zh-CN" sz="2400" dirty="0"/>
              <a:t>diff/</a:t>
            </a:r>
            <a:r>
              <a:rPr lang="zh-CN" altLang="en-US" sz="2400" dirty="0"/>
              <a:t>错误类型</a:t>
            </a:r>
          </a:p>
          <a:p>
            <a:r>
              <a:rPr lang="zh-CN" altLang="en-US" sz="2400" dirty="0"/>
              <a:t>过程层：中间推理步骤有效性、验证覆盖率、纠错链路成功率</a:t>
            </a:r>
          </a:p>
          <a:p>
            <a:r>
              <a:rPr lang="zh-CN" altLang="en-US" sz="2400" dirty="0"/>
              <a:t>输出：失败模式归因（理解错</a:t>
            </a:r>
            <a:r>
              <a:rPr lang="en-US" altLang="zh-CN" sz="2400" dirty="0"/>
              <a:t>/</a:t>
            </a:r>
            <a:r>
              <a:rPr lang="zh-CN" altLang="en-US" sz="2400" dirty="0"/>
              <a:t>顺序错</a:t>
            </a:r>
            <a:r>
              <a:rPr lang="en-US" altLang="zh-CN" sz="2400" dirty="0"/>
              <a:t>/</a:t>
            </a:r>
            <a:r>
              <a:rPr lang="zh-CN" altLang="en-US" sz="2400" dirty="0"/>
              <a:t>语法错</a:t>
            </a:r>
            <a:r>
              <a:rPr lang="en-US" altLang="zh-CN" sz="2400" dirty="0"/>
              <a:t>/</a:t>
            </a:r>
            <a:r>
              <a:rPr lang="zh-CN" altLang="en-US" sz="2400" dirty="0"/>
              <a:t>验证不足</a:t>
            </a:r>
            <a:r>
              <a:rPr lang="en-US" altLang="zh-CN" sz="2400" dirty="0"/>
              <a:t>/</a:t>
            </a:r>
            <a:r>
              <a:rPr lang="zh-CN" altLang="en-US" sz="2400" dirty="0"/>
              <a:t>环境假设错）</a:t>
            </a:r>
          </a:p>
          <a:p>
            <a:r>
              <a:rPr lang="en-US" altLang="zh-CN" sz="2400" b="1" dirty="0"/>
              <a:t>Step 5</a:t>
            </a:r>
            <a:r>
              <a:rPr lang="zh-CN" altLang="en-US" sz="2400" b="1" dirty="0"/>
              <a:t>｜扩展与迭代（</a:t>
            </a:r>
            <a:r>
              <a:rPr lang="en-US" altLang="zh-CN" sz="2400" b="1" dirty="0"/>
              <a:t>Make it scalable</a:t>
            </a:r>
            <a:r>
              <a:rPr lang="zh-CN" altLang="en-US" sz="2400" b="1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扩展任务数量与难度分布，保证覆盖面</a:t>
            </a:r>
          </a:p>
          <a:p>
            <a:r>
              <a:rPr lang="zh-CN" altLang="en-US" sz="2400" dirty="0"/>
              <a:t>通过消融实验验证：哪些设计真正带来提升</a:t>
            </a:r>
          </a:p>
          <a:p>
            <a:endParaRPr lang="en-US" altLang="zh-CN" sz="2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843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贡献</a:t>
            </a:r>
            <a:r>
              <a:rPr lang="en-US" altLang="zh-CN" b="1" dirty="0"/>
              <a:t>1</a:t>
            </a:r>
            <a:r>
              <a:rPr lang="zh-CN" altLang="en-US" b="1" dirty="0"/>
              <a:t>｜提出面向网络配置的统一任务表示与细粒度分类体系</a:t>
            </a:r>
            <a:endParaRPr lang="zh-CN" altLang="en-US" dirty="0"/>
          </a:p>
          <a:p>
            <a:r>
              <a:rPr lang="zh-CN" altLang="en-US" dirty="0"/>
              <a:t>定义任务标准字段：</a:t>
            </a:r>
            <a:r>
              <a:rPr lang="en-US" altLang="zh-CN" dirty="0"/>
              <a:t>Intent / Topology / </a:t>
            </a:r>
            <a:r>
              <a:rPr lang="zh-CN" altLang="en-US" dirty="0"/>
              <a:t>初始配置 </a:t>
            </a:r>
            <a:r>
              <a:rPr lang="en-US" altLang="zh-CN" dirty="0"/>
              <a:t>/ </a:t>
            </a:r>
            <a:r>
              <a:rPr lang="zh-CN" altLang="en-US" dirty="0"/>
              <a:t>约束 </a:t>
            </a:r>
            <a:r>
              <a:rPr lang="en-US" altLang="zh-CN" dirty="0"/>
              <a:t>/ Ground-truth / Testcases</a:t>
            </a:r>
          </a:p>
          <a:p>
            <a:r>
              <a:rPr lang="zh-CN" altLang="en-US" dirty="0"/>
              <a:t>构建更细粒度 </a:t>
            </a:r>
            <a:r>
              <a:rPr lang="en-US" altLang="zh-CN" dirty="0"/>
              <a:t>taxonomy</a:t>
            </a:r>
            <a:r>
              <a:rPr lang="zh-CN" altLang="en-US" dirty="0"/>
              <a:t>（协议、跨设备依赖、验证难度、知识依赖、变更类型等），支持覆盖面统计与难度分层</a:t>
            </a:r>
          </a:p>
          <a:p>
            <a:r>
              <a:rPr lang="zh-CN" altLang="en-US" b="1" dirty="0"/>
              <a:t>贡献</a:t>
            </a:r>
            <a:r>
              <a:rPr lang="en-US" altLang="zh-CN" b="1" dirty="0"/>
              <a:t>2</a:t>
            </a:r>
            <a:r>
              <a:rPr lang="zh-CN" altLang="en-US" b="1" dirty="0"/>
              <a:t>｜构建“交互式闭环”评测框架与可复现实验环境</a:t>
            </a:r>
            <a:endParaRPr lang="zh-CN" altLang="en-US" dirty="0"/>
          </a:p>
          <a:p>
            <a:r>
              <a:rPr lang="zh-CN" altLang="en-US" dirty="0"/>
              <a:t>支持 </a:t>
            </a:r>
            <a:r>
              <a:rPr lang="en-US" altLang="zh-CN" dirty="0"/>
              <a:t>Agent</a:t>
            </a:r>
            <a:r>
              <a:rPr lang="zh-CN" altLang="en-US" dirty="0"/>
              <a:t>：生成→下发→获取反馈→迭代修复→自动验证</a:t>
            </a:r>
          </a:p>
          <a:p>
            <a:r>
              <a:rPr lang="zh-CN" altLang="en-US" dirty="0"/>
              <a:t>提供完整可追溯日志：命令序列、设备回显、配置</a:t>
            </a:r>
            <a:r>
              <a:rPr lang="en-US" altLang="zh-CN" dirty="0"/>
              <a:t>diff</a:t>
            </a:r>
            <a:r>
              <a:rPr lang="zh-CN" altLang="en-US" dirty="0"/>
              <a:t>、测试结果</a:t>
            </a:r>
          </a:p>
          <a:p>
            <a:r>
              <a:rPr lang="zh-CN" altLang="en-US" b="1" dirty="0"/>
              <a:t>贡献</a:t>
            </a:r>
            <a:r>
              <a:rPr lang="en-US" altLang="zh-CN" b="1" dirty="0"/>
              <a:t>3</a:t>
            </a:r>
            <a:r>
              <a:rPr lang="zh-CN" altLang="en-US" b="1" dirty="0"/>
              <a:t>｜建立多维评测指标：结果层 </a:t>
            </a:r>
            <a:r>
              <a:rPr lang="en-US" altLang="zh-CN" b="1" dirty="0"/>
              <a:t>+ </a:t>
            </a:r>
            <a:r>
              <a:rPr lang="zh-CN" altLang="en-US" b="1" dirty="0"/>
              <a:t>过程层</a:t>
            </a:r>
            <a:endParaRPr lang="zh-CN" altLang="en-US" dirty="0"/>
          </a:p>
          <a:p>
            <a:r>
              <a:rPr lang="zh-CN" altLang="en-US" dirty="0"/>
              <a:t>结果层：命令有效率、意图满足率（</a:t>
            </a:r>
            <a:r>
              <a:rPr lang="en-US" altLang="zh-CN" dirty="0"/>
              <a:t>testcase pass</a:t>
            </a:r>
            <a:r>
              <a:rPr lang="zh-CN" altLang="en-US" dirty="0"/>
              <a:t>）、配置差异</a:t>
            </a:r>
            <a:r>
              <a:rPr lang="en-US" altLang="zh-CN" dirty="0"/>
              <a:t>/</a:t>
            </a:r>
            <a:r>
              <a:rPr lang="zh-CN" altLang="en-US" dirty="0"/>
              <a:t>错误类型</a:t>
            </a:r>
          </a:p>
          <a:p>
            <a:r>
              <a:rPr lang="zh-CN" altLang="en-US" dirty="0"/>
              <a:t>过程层：中间推理步骤有效性、验证覆盖率、纠错链路成功率（错误定位与修复能力）</a:t>
            </a:r>
          </a:p>
          <a:p>
            <a:r>
              <a:rPr lang="zh-CN" altLang="en-US" b="1" dirty="0"/>
              <a:t>贡献</a:t>
            </a:r>
            <a:r>
              <a:rPr lang="en-US" altLang="zh-CN" b="1" dirty="0"/>
              <a:t>4</a:t>
            </a:r>
            <a:r>
              <a:rPr lang="zh-CN" altLang="en-US" b="1" dirty="0"/>
              <a:t>｜系统化对比与消融：给出 </a:t>
            </a:r>
            <a:r>
              <a:rPr lang="en-US" altLang="zh-CN" b="1" dirty="0"/>
              <a:t>Agent </a:t>
            </a:r>
            <a:r>
              <a:rPr lang="zh-CN" altLang="en-US" b="1" dirty="0"/>
              <a:t>设计的经验结论</a:t>
            </a:r>
            <a:endParaRPr lang="zh-CN" altLang="en-US" dirty="0"/>
          </a:p>
          <a:p>
            <a:r>
              <a:rPr lang="zh-CN" altLang="en-US" dirty="0"/>
              <a:t>对比 </a:t>
            </a:r>
            <a:r>
              <a:rPr lang="en-US" altLang="zh-CN" dirty="0"/>
              <a:t>Baseline vs </a:t>
            </a:r>
            <a:r>
              <a:rPr lang="en-US" altLang="zh-CN" dirty="0" err="1"/>
              <a:t>ReAct</a:t>
            </a:r>
            <a:r>
              <a:rPr lang="en-US" altLang="zh-CN" dirty="0"/>
              <a:t> vs </a:t>
            </a:r>
            <a:r>
              <a:rPr lang="zh-CN" altLang="en-US" dirty="0"/>
              <a:t>多智能体（</a:t>
            </a:r>
            <a:r>
              <a:rPr lang="en-US" altLang="zh-CN" dirty="0"/>
              <a:t>Planner/Executor/Verifier</a:t>
            </a:r>
            <a:r>
              <a:rPr lang="zh-CN" altLang="en-US" dirty="0"/>
              <a:t>）</a:t>
            </a:r>
            <a:r>
              <a:rPr lang="en-US" altLang="zh-CN" dirty="0"/>
              <a:t>vs RAG/Retry</a:t>
            </a:r>
          </a:p>
          <a:p>
            <a:r>
              <a:rPr lang="zh-CN" altLang="en-US" dirty="0"/>
              <a:t>产出失败模式库与改进建议（哪些模块有效、为何有效、适用边界）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spcAft>
                <a:spcPts val="9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775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238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088DD9-0065-4EDD-ADC7-AA27F12F3C0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339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351" y="399605"/>
            <a:ext cx="2538904" cy="1074418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963169" y="2028084"/>
            <a:ext cx="10265664" cy="1356406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lang="en-US" altLang="en-US" sz="3600" b="0" kern="1200" cap="all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821794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96970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204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963169" y="2028083"/>
            <a:ext cx="10265664" cy="1376851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l">
              <a:defRPr lang="en-US" altLang="en-US" sz="3600" b="0" kern="1200" cap="all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7" name="日期占位符 10"/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28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9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2857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675071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879823" y="6128951"/>
            <a:ext cx="1203271" cy="365125"/>
          </a:xfrm>
          <a:prstGeom prst="rect">
            <a:avLst/>
          </a:prstGeo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313961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1721" y="6166165"/>
            <a:ext cx="1203271" cy="365125"/>
          </a:xfrm>
          <a:prstGeom prst="rect">
            <a:avLst/>
          </a:prstGeo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8639467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6" name="图片 5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3010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5C307D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5C307D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3545" y="6060170"/>
            <a:ext cx="252328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3377" y="6055844"/>
            <a:ext cx="65855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51493" y="6060170"/>
            <a:ext cx="120327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8600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9" name="图片 8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271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6197960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/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3" name="图片 12"/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422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376" y="2336003"/>
            <a:ext cx="10521388" cy="3154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377" y="5592997"/>
            <a:ext cx="6585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/>
          <p:cNvPicPr/>
          <p:nvPr userDrawn="1"/>
        </p:nvPicPr>
        <p:blipFill rotWithShape="1">
          <a:blip r:embed="rId1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  <p:sp>
        <p:nvSpPr>
          <p:cNvPr id="2" name="圆角矩形 1"/>
          <p:cNvSpPr/>
          <p:nvPr userDrawn="1"/>
        </p:nvSpPr>
        <p:spPr>
          <a:xfrm>
            <a:off x="586670" y="651024"/>
            <a:ext cx="80595" cy="900000"/>
          </a:xfrm>
          <a:prstGeom prst="roundRect">
            <a:avLst>
              <a:gd name="adj" fmla="val 0"/>
            </a:avLst>
          </a:prstGeom>
          <a:solidFill>
            <a:srgbClr val="5C307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4165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456565" rtl="0" eaLnBrk="1" latinLnBrk="0" hangingPunct="1">
        <a:spcBef>
          <a:spcPct val="0"/>
        </a:spcBef>
        <a:buNone/>
        <a:defRPr sz="2800" b="0" kern="1200" cap="all">
          <a:solidFill>
            <a:srgbClr val="5C307D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6565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65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9931" y="2202587"/>
            <a:ext cx="10980549" cy="1011026"/>
          </a:xfrm>
        </p:spPr>
        <p:txBody>
          <a:bodyPr anchor="ctr">
            <a:normAutofit/>
          </a:bodyPr>
          <a:lstStyle/>
          <a:p>
            <a:pPr algn="ctr"/>
            <a:r>
              <a:rPr lang="zh-CN" altLang="en-US" sz="4000" dirty="0"/>
              <a:t>面向意图驱动的网络配置：</a:t>
            </a:r>
            <a:r>
              <a:rPr lang="en-US" altLang="zh-CN" sz="4000" dirty="0"/>
              <a:t>LLM</a:t>
            </a:r>
            <a:r>
              <a:rPr lang="zh-CN" altLang="en-US" sz="4000" dirty="0"/>
              <a:t>智能体评测框架</a:t>
            </a:r>
            <a:endParaRPr kumimoji="1" lang="zh-CN" altLang="en-US" sz="4000" cap="none" dirty="0">
              <a:solidFill>
                <a:srgbClr val="5C307D"/>
              </a:solidFill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7BA8E6-E826-B147-AA17-E3D76A29629C}" type="slidenum">
              <a:rPr kumimoji="1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5C2F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5C2F7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副标题 4">
            <a:extLst>
              <a:ext uri="{FF2B5EF4-FFF2-40B4-BE49-F238E27FC236}">
                <a16:creationId xmlns:a16="http://schemas.microsoft.com/office/drawing/2014/main" id="{813EC9E4-4780-9A0A-0362-186EDFFC57BB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3644388"/>
            <a:ext cx="12192000" cy="32136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kumimoji="0" lang="zh-CN" altLang="en-US" sz="3200" b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姓名：</a:t>
            </a:r>
            <a:r>
              <a:rPr lang="zh-CN" alt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杜国豪</a:t>
            </a:r>
            <a:endParaRPr kumimoji="0" lang="en-US" altLang="zh-CN" sz="3200" b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endParaRPr kumimoji="0" lang="en-US" altLang="zh-CN" sz="3200" b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r>
              <a:rPr lang="zh-CN" altLang="en-US" sz="3200" b="1" baseline="300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清华大学计算机科学与技术系</a:t>
            </a:r>
            <a:endParaRPr lang="en-US" altLang="zh-CN" sz="3200" b="1" baseline="300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tabLst/>
              <a:defRPr/>
            </a:pPr>
            <a:endParaRPr kumimoji="0" lang="en-US" altLang="zh-CN" sz="3200" b="1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4ECE80E-259F-A466-F9C3-0D768DB6F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研究背景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相关工作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研究思路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未来规划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441EB3-80D7-5269-BDFE-2713E999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目录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74B817-69AE-F095-61B2-E5CF0BD68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0764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750A404-DEB5-ACE1-7021-D1575F548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377" y="2180498"/>
            <a:ext cx="10357699" cy="46775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网络配置天然</a:t>
            </a:r>
            <a:r>
              <a:rPr lang="zh-CN" altLang="en-US" sz="24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复杂且高风险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LLM/Agent </a:t>
            </a:r>
            <a:r>
              <a:rPr lang="zh-CN" altLang="en-US" sz="2400" dirty="0"/>
              <a:t>有潜力降低门槛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现有评测普遍停留在“</a:t>
            </a:r>
            <a:r>
              <a:rPr lang="zh-CN" altLang="en-US" sz="24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文本正确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需要一个“任务</a:t>
            </a:r>
            <a:r>
              <a:rPr lang="en-US" altLang="zh-CN" sz="2400" dirty="0"/>
              <a:t>+</a:t>
            </a:r>
            <a:r>
              <a:rPr lang="zh-CN" altLang="en-US" sz="2400" dirty="0"/>
              <a:t>环境</a:t>
            </a:r>
            <a:r>
              <a:rPr lang="en-US" altLang="zh-CN" sz="2400" dirty="0"/>
              <a:t>+</a:t>
            </a:r>
            <a:r>
              <a:rPr lang="zh-CN" altLang="en-US" sz="2400" dirty="0"/>
              <a:t>指标”一体化基准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核心问题：如何系统评测 </a:t>
            </a:r>
            <a:r>
              <a:rPr lang="en-US" altLang="zh-CN" sz="2400" dirty="0"/>
              <a:t>LLM Agent </a:t>
            </a:r>
            <a:r>
              <a:rPr lang="zh-CN" altLang="en-US" sz="2400" dirty="0"/>
              <a:t>在网络配置任务中能否配置成功、能否验证并纠错、为何失败？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CA402E4-D47B-9C3C-A842-E8255642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研究背景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7C11DF-0D66-5D7B-59B7-3A5D2175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524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15DA-BAF7-EAD0-ECAA-95FA9E19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28F9E91-6EE3-194A-84CB-56D3D75BC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306" y="1716626"/>
            <a:ext cx="11356693" cy="5141373"/>
          </a:xfrm>
        </p:spPr>
        <p:txBody>
          <a:bodyPr>
            <a:normAutofit fontScale="92500"/>
          </a:bodyPr>
          <a:lstStyle/>
          <a:p>
            <a:r>
              <a:rPr lang="en-US" altLang="zh-CN" sz="2400" dirty="0" err="1"/>
              <a:t>NetConfEval</a:t>
            </a:r>
            <a:r>
              <a:rPr lang="zh-CN" altLang="en-US" sz="2400" dirty="0"/>
              <a:t>（</a:t>
            </a:r>
            <a:r>
              <a:rPr lang="en-US" altLang="zh-CN" sz="2400" dirty="0"/>
              <a:t>CoNEXT’24</a:t>
            </a:r>
            <a:r>
              <a:rPr lang="zh-CN" altLang="en-US" sz="2400" dirty="0"/>
              <a:t>）：面向“生成</a:t>
            </a:r>
            <a:r>
              <a:rPr lang="en-US" altLang="zh-CN" sz="2400" dirty="0"/>
              <a:t>/</a:t>
            </a:r>
            <a:r>
              <a:rPr lang="zh-CN" altLang="en-US" sz="2400" dirty="0"/>
              <a:t>翻译类”网络配置任务的基准</a:t>
            </a:r>
          </a:p>
          <a:p>
            <a:r>
              <a:rPr lang="zh-CN" altLang="en-US" sz="2400" dirty="0"/>
              <a:t>关注问题：</a:t>
            </a:r>
            <a:r>
              <a:rPr lang="en-US" altLang="zh-CN" sz="2400" dirty="0"/>
              <a:t>LLM </a:t>
            </a:r>
            <a:r>
              <a:rPr lang="zh-CN" altLang="en-US" sz="2400" dirty="0"/>
              <a:t>能否把自然语言的网络需求</a:t>
            </a:r>
            <a:r>
              <a:rPr lang="en-US" altLang="zh-CN" sz="2400" dirty="0"/>
              <a:t>/</a:t>
            </a:r>
            <a:r>
              <a:rPr lang="zh-CN" altLang="en-US" sz="2400" dirty="0"/>
              <a:t>描述转成可用的形式化产物，用于配置与自动化</a:t>
            </a:r>
          </a:p>
          <a:p>
            <a:r>
              <a:rPr lang="zh-CN" altLang="en-US" sz="2400" dirty="0"/>
              <a:t>任务覆盖（典型 </a:t>
            </a:r>
            <a:r>
              <a:rPr lang="en-US" altLang="zh-CN" sz="2400" dirty="0"/>
              <a:t>4 </a:t>
            </a:r>
            <a:r>
              <a:rPr lang="zh-CN" altLang="en-US" sz="2400" dirty="0"/>
              <a:t>类）：</a:t>
            </a:r>
          </a:p>
          <a:p>
            <a:pPr lvl="1"/>
            <a:r>
              <a:rPr lang="zh-CN" altLang="en-US" sz="2400" dirty="0"/>
              <a:t>需求 → 形式化规格（</a:t>
            </a:r>
            <a:r>
              <a:rPr lang="en-US" altLang="zh-CN" sz="2400" dirty="0"/>
              <a:t>formal specification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需求 → </a:t>
            </a:r>
            <a:r>
              <a:rPr lang="en-US" altLang="zh-CN" sz="2400" dirty="0"/>
              <a:t>API/</a:t>
            </a:r>
            <a:r>
              <a:rPr lang="zh-CN" altLang="en-US" sz="2400" dirty="0"/>
              <a:t>函数调用（面向</a:t>
            </a:r>
            <a:r>
              <a:rPr lang="en-US" altLang="zh-CN" sz="2400" dirty="0"/>
              <a:t>SDN/</a:t>
            </a:r>
            <a:r>
              <a:rPr lang="zh-CN" altLang="en-US" sz="2400" dirty="0"/>
              <a:t>自动化接口）</a:t>
            </a:r>
          </a:p>
          <a:p>
            <a:pPr lvl="1"/>
            <a:r>
              <a:rPr lang="zh-CN" altLang="en-US" sz="2400" dirty="0"/>
              <a:t>高层描述 → 路由算法代码（实现路径计算等）</a:t>
            </a:r>
          </a:p>
          <a:p>
            <a:pPr lvl="1"/>
            <a:r>
              <a:rPr lang="zh-CN" altLang="en-US" sz="2400" dirty="0"/>
              <a:t>文档</a:t>
            </a:r>
            <a:r>
              <a:rPr lang="en-US" altLang="zh-CN" sz="2400" dirty="0"/>
              <a:t>/</a:t>
            </a:r>
            <a:r>
              <a:rPr lang="zh-CN" altLang="en-US" sz="2400" dirty="0"/>
              <a:t>说明 → 低层协议配置（</a:t>
            </a:r>
            <a:r>
              <a:rPr lang="en-US" altLang="zh-CN" sz="2400" dirty="0"/>
              <a:t>low-level configuration</a:t>
            </a:r>
            <a:r>
              <a:rPr lang="zh-CN" altLang="en-US" sz="2400" dirty="0"/>
              <a:t>）</a:t>
            </a:r>
          </a:p>
          <a:p>
            <a:r>
              <a:rPr lang="zh-CN" altLang="en-US" sz="2400" dirty="0"/>
              <a:t>优点：任务类型更丰富，覆盖规格</a:t>
            </a:r>
            <a:r>
              <a:rPr lang="en-US" altLang="zh-CN" sz="2400" dirty="0"/>
              <a:t>/</a:t>
            </a:r>
            <a:r>
              <a:rPr lang="zh-CN" altLang="en-US" sz="2400" dirty="0"/>
              <a:t>调用</a:t>
            </a:r>
            <a:r>
              <a:rPr lang="en-US" altLang="zh-CN" sz="2400" dirty="0"/>
              <a:t>/</a:t>
            </a:r>
            <a:r>
              <a:rPr lang="zh-CN" altLang="en-US" sz="2400" dirty="0"/>
              <a:t>代码</a:t>
            </a:r>
            <a:r>
              <a:rPr lang="en-US" altLang="zh-CN" sz="2400" dirty="0"/>
              <a:t>/</a:t>
            </a:r>
            <a:r>
              <a:rPr lang="zh-CN" altLang="en-US" sz="2400" dirty="0"/>
              <a:t>配置等多形态输出，便于横向比较模型能力</a:t>
            </a:r>
          </a:p>
          <a:p>
            <a:r>
              <a:rPr lang="zh-CN" altLang="en-US" sz="2400" dirty="0"/>
              <a:t>局限：整体更偏生成正确性，对真实设备</a:t>
            </a:r>
            <a:r>
              <a:rPr lang="en-US" altLang="zh-CN" sz="2400" dirty="0"/>
              <a:t>/</a:t>
            </a:r>
            <a:r>
              <a:rPr lang="zh-CN" altLang="en-US" sz="2400" dirty="0"/>
              <a:t>仿真环境闭环验证 </a:t>
            </a:r>
            <a:r>
              <a:rPr lang="en-US" altLang="zh-CN" sz="2400" dirty="0"/>
              <a:t>+ </a:t>
            </a:r>
            <a:r>
              <a:rPr lang="zh-CN" altLang="en-US" sz="2400" dirty="0"/>
              <a:t>迭代纠错过程的系统评测相对弱（过程层指标不突出）</a:t>
            </a:r>
          </a:p>
          <a:p>
            <a:pPr lvl="1"/>
            <a:endParaRPr lang="zh-CN" altLang="en-US" sz="2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4E75AB8-7531-5294-57BA-14C7DD7D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相关工作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F14ADF-77C8-3CA7-E89E-1524BD2C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586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0B899-24FD-2A57-E26E-968C3C94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E45E580-D472-A0A4-4091-7C32410C7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306" y="1763822"/>
            <a:ext cx="11356694" cy="509417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200" dirty="0"/>
              <a:t>NETLLMBENCH</a:t>
            </a:r>
            <a:r>
              <a:rPr lang="zh-CN" altLang="en-US" sz="2200" dirty="0"/>
              <a:t>（</a:t>
            </a:r>
            <a:r>
              <a:rPr lang="en-US" altLang="zh-CN" sz="2200" dirty="0"/>
              <a:t>TUM</a:t>
            </a:r>
            <a:r>
              <a:rPr lang="zh-CN" altLang="en-US" sz="2200" dirty="0"/>
              <a:t>）：面向“闭环验证”的网络配置评测框架</a:t>
            </a:r>
          </a:p>
          <a:p>
            <a:pPr>
              <a:lnSpc>
                <a:spcPct val="90000"/>
              </a:lnSpc>
            </a:pPr>
            <a:r>
              <a:rPr lang="zh-CN" altLang="en-US" sz="2200" dirty="0"/>
              <a:t>关注问题：把 </a:t>
            </a:r>
            <a:r>
              <a:rPr lang="en-US" altLang="zh-CN" sz="2200" dirty="0"/>
              <a:t>prompt </a:t>
            </a:r>
            <a:r>
              <a:rPr lang="zh-CN" altLang="en-US" sz="2200" dirty="0"/>
              <a:t>工程 </a:t>
            </a:r>
            <a:r>
              <a:rPr lang="en-US" altLang="zh-CN" sz="2200" dirty="0"/>
              <a:t>+ </a:t>
            </a:r>
            <a:r>
              <a:rPr lang="zh-CN" altLang="en-US" sz="2200" dirty="0"/>
              <a:t>网络仿真</a:t>
            </a:r>
            <a:r>
              <a:rPr lang="en-US" altLang="zh-CN" sz="2200" dirty="0"/>
              <a:t>/</a:t>
            </a:r>
            <a:r>
              <a:rPr lang="zh-CN" altLang="en-US" sz="2200" dirty="0"/>
              <a:t>仿真反馈结合，闭环验证 </a:t>
            </a:r>
            <a:r>
              <a:rPr lang="en-US" altLang="zh-CN" sz="2200" dirty="0"/>
              <a:t>LLM </a:t>
            </a:r>
            <a:r>
              <a:rPr lang="zh-CN" altLang="en-US" sz="2200" dirty="0"/>
              <a:t>的配置结果</a:t>
            </a:r>
          </a:p>
          <a:p>
            <a:pPr>
              <a:lnSpc>
                <a:spcPct val="90000"/>
              </a:lnSpc>
            </a:pPr>
            <a:r>
              <a:rPr lang="zh-CN" altLang="en-US" sz="2200" dirty="0"/>
              <a:t>框架特点：四阶段流程（任务定义→测试→格式校验→仿真），要求输出</a:t>
            </a:r>
            <a:r>
              <a:rPr lang="en-US" altLang="zh-CN" sz="2200" dirty="0"/>
              <a:t>JSON</a:t>
            </a:r>
            <a:r>
              <a:rPr lang="zh-CN" altLang="en-US" sz="2200" dirty="0"/>
              <a:t>结构；包含 </a:t>
            </a:r>
            <a:r>
              <a:rPr lang="en-US" altLang="zh-CN" sz="2200" dirty="0"/>
              <a:t>JSON verifier</a:t>
            </a:r>
            <a:r>
              <a:rPr lang="zh-CN" altLang="en-US" sz="2200" dirty="0"/>
              <a:t>、示例纠错提示，甚至用一个“</a:t>
            </a:r>
            <a:r>
              <a:rPr lang="en-US" altLang="zh-CN" sz="2200" dirty="0"/>
              <a:t>Master LLM”</a:t>
            </a:r>
            <a:r>
              <a:rPr lang="zh-CN" altLang="en-US" sz="2200" dirty="0"/>
              <a:t>兜底修正格式；再把命令送入仿真器获取错误反馈并迭代</a:t>
            </a:r>
          </a:p>
          <a:p>
            <a:pPr>
              <a:lnSpc>
                <a:spcPct val="90000"/>
              </a:lnSpc>
            </a:pPr>
            <a:r>
              <a:rPr lang="zh-CN" altLang="en-US" sz="2200" dirty="0"/>
              <a:t>任务示例：在给定拓扑中完成 </a:t>
            </a:r>
            <a:r>
              <a:rPr lang="en-US" altLang="zh-CN" sz="2200" dirty="0"/>
              <a:t>IP </a:t>
            </a:r>
            <a:r>
              <a:rPr lang="zh-CN" altLang="en-US" sz="2200" dirty="0"/>
              <a:t>地址、默认网关等配置，并在仿真环境中验证可达性等结果</a:t>
            </a:r>
          </a:p>
          <a:p>
            <a:pPr>
              <a:lnSpc>
                <a:spcPct val="90000"/>
              </a:lnSpc>
            </a:pPr>
            <a:r>
              <a:rPr lang="zh-CN" altLang="en-US" sz="2200" dirty="0"/>
              <a:t>优点：强调“能否在环境中跑通”的客观验证，流程可复现（代码开源）</a:t>
            </a:r>
          </a:p>
          <a:p>
            <a:pPr>
              <a:lnSpc>
                <a:spcPct val="90000"/>
              </a:lnSpc>
            </a:pPr>
            <a:r>
              <a:rPr lang="zh-CN" altLang="en-US" sz="2200" dirty="0"/>
              <a:t>局限：任务构建目前偏人工定义、场景相对有限；评价侧更关注任务是否完成</a:t>
            </a:r>
            <a:r>
              <a:rPr lang="en-US" altLang="zh-CN" sz="2200" dirty="0"/>
              <a:t>/</a:t>
            </a:r>
            <a:r>
              <a:rPr lang="zh-CN" altLang="en-US" sz="2200" dirty="0"/>
              <a:t>迭代次数等，过程推理质量与任务</a:t>
            </a:r>
            <a:r>
              <a:rPr lang="en-US" altLang="zh-CN" sz="2200" dirty="0"/>
              <a:t>taxonomy</a:t>
            </a:r>
            <a:r>
              <a:rPr lang="zh-CN" altLang="en-US" sz="2200" dirty="0"/>
              <a:t>仍可进一步细化</a:t>
            </a:r>
          </a:p>
          <a:p>
            <a:pPr lvl="1"/>
            <a:endParaRPr lang="zh-CN" altLang="en-US" sz="2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5C808E7-1447-CFE2-EF1B-96169E03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相关工作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F9D1CB-70CB-463E-8B81-17465032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7BA8E6-E826-B147-AA17-E3D76A29629C}" type="slidenum">
              <a:rPr kumimoji="1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5C2F7D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5C2F7D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395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F573-7A23-CCE0-8D71-7CB12BE7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CA19611-F490-822A-C704-642304218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建立标准化任务表示与数据集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构建“交互式闭环”评测环境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提出多维评测指标体系（结果 </a:t>
            </a:r>
            <a:r>
              <a:rPr lang="en-US" altLang="zh-CN" sz="2400" dirty="0"/>
              <a:t>+ </a:t>
            </a:r>
            <a:r>
              <a:rPr lang="zh-CN" altLang="en-US" sz="2400" dirty="0"/>
              <a:t>过程）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在多种 </a:t>
            </a:r>
            <a:r>
              <a:rPr lang="en-US" altLang="zh-CN" sz="2400" dirty="0"/>
              <a:t>Agent </a:t>
            </a:r>
            <a:r>
              <a:rPr lang="zh-CN" altLang="en-US" sz="2400" dirty="0"/>
              <a:t>策略上系统对比与消融</a:t>
            </a:r>
            <a:endParaRPr lang="zh-CN" altLang="en-US" sz="2400" dirty="0">
              <a:solidFill>
                <a:srgbClr val="00B05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58E6BC6-4629-C605-F62E-01D2BFCF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研究目标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59FC67-9B4C-793B-3392-6A723813A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8985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BA1FC2B-40AF-D3D6-30FA-6205C0538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306" y="2109693"/>
            <a:ext cx="4334458" cy="4409094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sz="2400" dirty="0"/>
              <a:t>任务建模与分类体系（</a:t>
            </a:r>
            <a:r>
              <a:rPr lang="en-US" altLang="zh-CN" sz="2400" dirty="0"/>
              <a:t>What to evaluate</a:t>
            </a:r>
            <a:r>
              <a:rPr lang="zh-CN" altLang="en-US" sz="2400" dirty="0"/>
              <a:t>）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400" dirty="0"/>
              <a:t>定义任务数据结构：意图、拓扑、初始配置、约束、参考答案、自动化 </a:t>
            </a:r>
            <a:r>
              <a:rPr lang="en-US" altLang="zh-CN" sz="2400" dirty="0"/>
              <a:t>testcases</a:t>
            </a:r>
            <a:endParaRPr lang="en-US" altLang="zh-CN" sz="2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400" dirty="0"/>
              <a:t>交互式评测环境搭建（</a:t>
            </a:r>
            <a:r>
              <a:rPr lang="en-US" altLang="zh-CN" sz="2400" dirty="0"/>
              <a:t>Where to evaluate</a:t>
            </a:r>
            <a:r>
              <a:rPr lang="zh-CN" altLang="en-US" sz="2400" dirty="0"/>
              <a:t>）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400" dirty="0"/>
              <a:t>提供标准接口：下发配置、执行 </a:t>
            </a:r>
            <a:r>
              <a:rPr lang="en-US" altLang="zh-CN" sz="2400" dirty="0"/>
              <a:t>show/ping </a:t>
            </a:r>
            <a:r>
              <a:rPr lang="zh-CN" altLang="en-US" sz="2400" dirty="0"/>
              <a:t>等命令、采集回显与状态</a:t>
            </a:r>
            <a:endParaRPr lang="en-US" altLang="zh-CN" sz="2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400" dirty="0"/>
              <a:t>扩展与迭代（</a:t>
            </a:r>
            <a:r>
              <a:rPr lang="en-US" altLang="zh-CN" sz="2400" dirty="0"/>
              <a:t>Make it scalable</a:t>
            </a:r>
            <a:r>
              <a:rPr lang="zh-CN" altLang="en-US" sz="2400" dirty="0"/>
              <a:t>）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400" dirty="0"/>
              <a:t>扩展任务数量与难度分布，保证覆盖面</a:t>
            </a:r>
            <a:endParaRPr lang="en-US" altLang="zh-CN" sz="2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4106240-6BB9-CA23-FE5D-B131C4EA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研究思路</a:t>
            </a:r>
            <a:endParaRPr lang="zh-CN" altLang="en-US" sz="3200" dirty="0">
              <a:highlight>
                <a:srgbClr val="FFFF00"/>
              </a:highligh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4D18AD-0F72-3996-EE5D-02CC653F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  <a:t>7</a:t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5" name="图片 64" descr="图示&#10;&#10;AI 生成的内容可能不正确。">
            <a:extLst>
              <a:ext uri="{FF2B5EF4-FFF2-40B4-BE49-F238E27FC236}">
                <a16:creationId xmlns:a16="http://schemas.microsoft.com/office/drawing/2014/main" id="{AC685FD1-E9C7-46FF-8D68-20F97BDE6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013" y="2225651"/>
            <a:ext cx="6787800" cy="373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7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3E2BF-A5CA-4B3B-28AE-D2DA0F92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预期贡献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F71610-88BE-9CB0-2A80-10A584A0D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提出面向网络配置的统一任务表示与细粒度分类体系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构建“交互式闭环”评测框架与可复现实验环境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/>
              <a:t>建立多维评测指标：结果层 </a:t>
            </a:r>
            <a:r>
              <a:rPr lang="en-US" altLang="zh-CN" sz="2400" dirty="0"/>
              <a:t>+ </a:t>
            </a:r>
            <a:r>
              <a:rPr lang="zh-CN" altLang="en-US" sz="2400" dirty="0"/>
              <a:t>过程层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系统化对比与消融：给出 </a:t>
            </a:r>
            <a:r>
              <a:rPr lang="en-US" altLang="zh-CN" sz="2400" dirty="0"/>
              <a:t>Agent </a:t>
            </a:r>
            <a:r>
              <a:rPr lang="zh-CN" altLang="en-US" sz="2400" dirty="0"/>
              <a:t>设计的经验结论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066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35077-1824-ECFC-E924-51975CF0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4793CDF-12F6-4A0F-D6F1-ECD8BD54E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01" y="1608625"/>
            <a:ext cx="8320493" cy="524937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方案定稿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月）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000" dirty="0"/>
              <a:t>相关工作综述、任务数据模型、细粒度分类体系 、评测指标定义 </a:t>
            </a:r>
            <a:endParaRPr lang="en-US" altLang="zh-CN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000" dirty="0"/>
              <a:t>可复现实验环境（仿真</a:t>
            </a:r>
            <a:r>
              <a:rPr lang="en-US" altLang="zh-CN" sz="2000" dirty="0"/>
              <a:t>/</a:t>
            </a:r>
            <a:r>
              <a:rPr lang="zh-CN" altLang="en-US" sz="2000" dirty="0"/>
              <a:t>容器化脚本）、评测接口（下发</a:t>
            </a:r>
            <a:r>
              <a:rPr lang="en-US" altLang="zh-CN" sz="2000" dirty="0"/>
              <a:t>/</a:t>
            </a:r>
            <a:r>
              <a:rPr lang="zh-CN" altLang="en-US" sz="2000" dirty="0"/>
              <a:t>回显采集</a:t>
            </a:r>
            <a:r>
              <a:rPr lang="en-US" altLang="zh-CN" sz="2000" dirty="0"/>
              <a:t>/</a:t>
            </a:r>
            <a:r>
              <a:rPr lang="zh-CN" altLang="en-US" sz="2000" dirty="0"/>
              <a:t>验证）</a:t>
            </a:r>
            <a:endParaRPr lang="en-US" altLang="zh-CN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/>
              <a:t>基线实现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月）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en-US" altLang="zh-CN" sz="2000" dirty="0"/>
              <a:t>Baseline</a:t>
            </a:r>
            <a:r>
              <a:rPr lang="zh-CN" altLang="en-US" sz="2000" dirty="0"/>
              <a:t>（单轮</a:t>
            </a:r>
            <a:r>
              <a:rPr lang="en-US" altLang="zh-CN" sz="2000" dirty="0"/>
              <a:t>/</a:t>
            </a:r>
            <a:r>
              <a:rPr lang="zh-CN" altLang="en-US" sz="2000" dirty="0"/>
              <a:t>简单迭代）</a:t>
            </a:r>
            <a:r>
              <a:rPr lang="en-US" altLang="zh-CN" sz="2000" dirty="0"/>
              <a:t>+ </a:t>
            </a:r>
            <a:r>
              <a:rPr lang="zh-CN" altLang="en-US" sz="2000" dirty="0"/>
              <a:t>自动化评测报告生成</a:t>
            </a:r>
            <a:endParaRPr lang="en-US" altLang="zh-CN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000" dirty="0"/>
              <a:t>初版结果与失败模式分析（理解错</a:t>
            </a:r>
            <a:r>
              <a:rPr lang="en-US" altLang="zh-CN" sz="2000" dirty="0"/>
              <a:t>/</a:t>
            </a:r>
            <a:r>
              <a:rPr lang="zh-CN" altLang="en-US" sz="2000" dirty="0"/>
              <a:t>语法错</a:t>
            </a:r>
            <a:r>
              <a:rPr lang="en-US" altLang="zh-CN" sz="2000" dirty="0"/>
              <a:t>/</a:t>
            </a:r>
            <a:r>
              <a:rPr lang="zh-CN" altLang="en-US" sz="2000" dirty="0"/>
              <a:t>顺序错</a:t>
            </a:r>
            <a:r>
              <a:rPr lang="en-US" altLang="zh-CN" sz="2000" dirty="0"/>
              <a:t>/</a:t>
            </a:r>
            <a:r>
              <a:rPr lang="zh-CN" altLang="en-US" sz="2000" dirty="0"/>
              <a:t>验证不足）</a:t>
            </a:r>
            <a:endParaRPr lang="en-US" altLang="zh-CN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/>
              <a:t>方法增强 </a:t>
            </a:r>
            <a:r>
              <a:rPr lang="en-US" altLang="zh-CN" sz="2400" dirty="0"/>
              <a:t>&amp; </a:t>
            </a:r>
            <a:r>
              <a:rPr lang="zh-CN" altLang="en-US" sz="2400" dirty="0"/>
              <a:t>消融实验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月）</a:t>
            </a:r>
            <a:endParaRPr lang="en-US" altLang="zh-CN" sz="2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en-US" altLang="zh-CN" sz="2000" dirty="0" err="1"/>
              <a:t>ReAct</a:t>
            </a:r>
            <a:r>
              <a:rPr lang="en-US" altLang="zh-CN" sz="2000" dirty="0"/>
              <a:t> / Retry</a:t>
            </a:r>
            <a:r>
              <a:rPr lang="zh-CN" altLang="en-US" sz="2000" dirty="0"/>
              <a:t>、多智能体（</a:t>
            </a:r>
            <a:r>
              <a:rPr lang="en-US" altLang="zh-CN" sz="2000" dirty="0"/>
              <a:t>Planner-Executor-Verifier</a:t>
            </a:r>
            <a:r>
              <a:rPr lang="zh-CN" altLang="en-US" sz="2000" dirty="0"/>
              <a:t>）、 </a:t>
            </a:r>
            <a:r>
              <a:rPr lang="en-US" altLang="zh-CN" sz="2000" dirty="0"/>
              <a:t>RAG</a:t>
            </a:r>
            <a:endParaRPr lang="en-US" altLang="zh-CN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/>
            <a:r>
              <a:rPr lang="zh-CN" altLang="en-US" sz="2000" dirty="0"/>
              <a:t>消融实验表（不同模块对有效率</a:t>
            </a:r>
            <a:r>
              <a:rPr lang="en-US" altLang="zh-CN" sz="2000" dirty="0"/>
              <a:t>/</a:t>
            </a:r>
            <a:r>
              <a:rPr lang="zh-CN" altLang="en-US" sz="2000" dirty="0"/>
              <a:t>意图满足率</a:t>
            </a:r>
            <a:r>
              <a:rPr lang="en-US" altLang="zh-CN" sz="2000" dirty="0"/>
              <a:t>/</a:t>
            </a:r>
            <a:r>
              <a:rPr lang="zh-CN" altLang="en-US" sz="2000" dirty="0"/>
              <a:t>纠错成功率的贡献）</a:t>
            </a:r>
            <a:endParaRPr lang="zh-CN" altLang="en-US" sz="20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4B8BC10-2D88-A9B7-AE05-7A2E3C29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未来规划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E7DF01-17EB-00BD-819F-1A506F02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  <a:t>9</a:t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20E2621-8567-BF14-D156-AC0C986F1499}"/>
              </a:ext>
            </a:extLst>
          </p:cNvPr>
          <p:cNvCxnSpPr>
            <a:cxnSpLocks/>
          </p:cNvCxnSpPr>
          <p:nvPr/>
        </p:nvCxnSpPr>
        <p:spPr>
          <a:xfrm>
            <a:off x="10151493" y="1539732"/>
            <a:ext cx="0" cy="454840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1E2C358F-5FDD-7886-2DE7-E1FD92EA18EA}"/>
              </a:ext>
            </a:extLst>
          </p:cNvPr>
          <p:cNvSpPr/>
          <p:nvPr/>
        </p:nvSpPr>
        <p:spPr>
          <a:xfrm>
            <a:off x="10081996" y="1970385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070AEAF-4561-42A9-5E2C-19431AB48084}"/>
              </a:ext>
            </a:extLst>
          </p:cNvPr>
          <p:cNvSpPr/>
          <p:nvPr/>
        </p:nvSpPr>
        <p:spPr>
          <a:xfrm>
            <a:off x="10080027" y="3539088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604046E-AF59-76B8-CF6D-02A8C6AF8598}"/>
              </a:ext>
            </a:extLst>
          </p:cNvPr>
          <p:cNvSpPr/>
          <p:nvPr/>
        </p:nvSpPr>
        <p:spPr>
          <a:xfrm>
            <a:off x="10080027" y="5107791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A7052D0-E469-1179-A6CF-0C8CEF846E5D}"/>
              </a:ext>
            </a:extLst>
          </p:cNvPr>
          <p:cNvSpPr/>
          <p:nvPr/>
        </p:nvSpPr>
        <p:spPr>
          <a:xfrm>
            <a:off x="10080027" y="2754736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DAD299-341B-0315-6705-77E0140C4C8A}"/>
              </a:ext>
            </a:extLst>
          </p:cNvPr>
          <p:cNvSpPr/>
          <p:nvPr/>
        </p:nvSpPr>
        <p:spPr>
          <a:xfrm>
            <a:off x="10080027" y="4321163"/>
            <a:ext cx="140400" cy="1415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391352D-4413-D77B-D734-8D365574EA6D}"/>
              </a:ext>
            </a:extLst>
          </p:cNvPr>
          <p:cNvSpPr txBox="1"/>
          <p:nvPr/>
        </p:nvSpPr>
        <p:spPr>
          <a:xfrm>
            <a:off x="8483272" y="1852397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1</a:t>
            </a:r>
            <a:r>
              <a:rPr lang="zh-CN" altLang="en-US" dirty="0"/>
              <a:t>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AC91F9A-3FFD-F207-870E-66B64D494B6B}"/>
              </a:ext>
            </a:extLst>
          </p:cNvPr>
          <p:cNvSpPr txBox="1"/>
          <p:nvPr/>
        </p:nvSpPr>
        <p:spPr>
          <a:xfrm>
            <a:off x="8483272" y="2640862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2</a:t>
            </a:r>
            <a:r>
              <a:rPr lang="zh-CN" altLang="en-US" dirty="0"/>
              <a:t>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AA0271C-EFC9-F4C5-CD59-5D07C03F0502}"/>
              </a:ext>
            </a:extLst>
          </p:cNvPr>
          <p:cNvSpPr txBox="1"/>
          <p:nvPr/>
        </p:nvSpPr>
        <p:spPr>
          <a:xfrm>
            <a:off x="8483272" y="3425214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3</a:t>
            </a:r>
            <a:r>
              <a:rPr lang="zh-CN" altLang="en-US" dirty="0"/>
              <a:t>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7FBD99E-E0CC-3142-1D41-17ED8DDEE8CF}"/>
              </a:ext>
            </a:extLst>
          </p:cNvPr>
          <p:cNvSpPr txBox="1"/>
          <p:nvPr/>
        </p:nvSpPr>
        <p:spPr>
          <a:xfrm>
            <a:off x="8483271" y="4207289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4</a:t>
            </a:r>
            <a:r>
              <a:rPr lang="zh-CN" altLang="en-US" dirty="0"/>
              <a:t>月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AB72F5F-B01B-1C39-5BFE-6FFA1CA15A3A}"/>
              </a:ext>
            </a:extLst>
          </p:cNvPr>
          <p:cNvSpPr txBox="1"/>
          <p:nvPr/>
        </p:nvSpPr>
        <p:spPr>
          <a:xfrm>
            <a:off x="8483271" y="4995754"/>
            <a:ext cx="142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/>
              <a:t>5</a:t>
            </a:r>
            <a:r>
              <a:rPr lang="zh-CN" altLang="en-US" dirty="0"/>
              <a:t>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E49BEF-DA7A-89C9-F7E2-B10B0CA439FE}"/>
              </a:ext>
            </a:extLst>
          </p:cNvPr>
          <p:cNvSpPr txBox="1"/>
          <p:nvPr/>
        </p:nvSpPr>
        <p:spPr>
          <a:xfrm>
            <a:off x="10225856" y="1852397"/>
            <a:ext cx="147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方案定稿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4FB3B54-4ACA-AA8E-1787-064D3702B60F}"/>
              </a:ext>
            </a:extLst>
          </p:cNvPr>
          <p:cNvSpPr txBox="1"/>
          <p:nvPr/>
        </p:nvSpPr>
        <p:spPr>
          <a:xfrm>
            <a:off x="10225856" y="2640862"/>
            <a:ext cx="147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基线实现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2157CF-956F-18AA-9945-DC863B6D98C4}"/>
              </a:ext>
            </a:extLst>
          </p:cNvPr>
          <p:cNvSpPr txBox="1"/>
          <p:nvPr/>
        </p:nvSpPr>
        <p:spPr>
          <a:xfrm>
            <a:off x="10225856" y="3425214"/>
            <a:ext cx="1696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进行实验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DBF4055-1F26-CD0D-4450-4D77C80ADA2E}"/>
              </a:ext>
            </a:extLst>
          </p:cNvPr>
          <p:cNvSpPr txBox="1"/>
          <p:nvPr/>
        </p:nvSpPr>
        <p:spPr>
          <a:xfrm>
            <a:off x="10220427" y="4213679"/>
            <a:ext cx="147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方法增强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04FE59-D823-E1A4-92CA-48F0793FC03C}"/>
              </a:ext>
            </a:extLst>
          </p:cNvPr>
          <p:cNvSpPr txBox="1"/>
          <p:nvPr/>
        </p:nvSpPr>
        <p:spPr>
          <a:xfrm>
            <a:off x="10220427" y="5002144"/>
            <a:ext cx="147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撰写论文</a:t>
            </a:r>
          </a:p>
        </p:txBody>
      </p:sp>
    </p:spTree>
    <p:extLst>
      <p:ext uri="{BB962C8B-B14F-4D97-AF65-F5344CB8AC3E}">
        <p14:creationId xmlns:p14="http://schemas.microsoft.com/office/powerpoint/2010/main" val="1664651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AB25E2A-108A-934B-1871-3642F86D8B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zh-CN" altLang="en-US" sz="4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请老师们批评指正！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69CD56C7-B3CF-469F-6256-8C8708103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634" y="3819054"/>
            <a:ext cx="10978699" cy="1525761"/>
          </a:xfrm>
        </p:spPr>
        <p:txBody>
          <a:bodyPr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杜国豪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2025-12-19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0F4DE0-2C67-F710-48ED-AE327FEF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>
                <a:latin typeface="华文中宋" panose="02010600040101010101" pitchFamily="2" charset="-122"/>
                <a:ea typeface="华文中宋" panose="02010600040101010101" pitchFamily="2" charset="-122"/>
              </a:rPr>
              <a:t>10</a:t>
            </a:fld>
            <a:endParaRPr kumimoji="1"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14452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清华简约主题-扁平-16:9">
  <a:themeElements>
    <a:clrScheme name="自定义 6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5B2F7C"/>
      </a:accent1>
      <a:accent2>
        <a:srgbClr val="5C2F7D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8431</TotalTime>
  <Words>1402</Words>
  <Application>Microsoft Office PowerPoint</Application>
  <PresentationFormat>宽屏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华文中宋</vt:lpstr>
      <vt:lpstr>微软雅黑</vt:lpstr>
      <vt:lpstr>Arial</vt:lpstr>
      <vt:lpstr>Gill Sans MT</vt:lpstr>
      <vt:lpstr>Times New Roman</vt:lpstr>
      <vt:lpstr>Wingdings 2</vt:lpstr>
      <vt:lpstr>清华简约主题-扁平-16:9</vt:lpstr>
      <vt:lpstr>面向意图驱动的网络配置：LLM智能体评测框架</vt:lpstr>
      <vt:lpstr>目录</vt:lpstr>
      <vt:lpstr>研究背景</vt:lpstr>
      <vt:lpstr>相关工作</vt:lpstr>
      <vt:lpstr>相关工作</vt:lpstr>
      <vt:lpstr>研究目标</vt:lpstr>
      <vt:lpstr>研究思路</vt:lpstr>
      <vt:lpstr>预期贡献</vt:lpstr>
      <vt:lpstr>未来规划</vt:lpstr>
      <vt:lpstr>请老师们批评指正！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楚怡 王</dc:creator>
  <cp:lastModifiedBy>狄狄 杜</cp:lastModifiedBy>
  <cp:revision>344</cp:revision>
  <dcterms:created xsi:type="dcterms:W3CDTF">2024-09-23T08:41:18Z</dcterms:created>
  <dcterms:modified xsi:type="dcterms:W3CDTF">2025-12-19T04:46:13Z</dcterms:modified>
</cp:coreProperties>
</file>